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9144000" cy="5143500" type="screen16x9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Calibri"/>
        <a:ea typeface="Calibri"/>
        <a:cs typeface="Calibri"/>
      </a:defRPr>
    </a:lvl1pPr>
    <a:lvl2pPr marL="457200" algn="l" defTabSz="457200">
      <a:buNone/>
      <a:defRPr sz="1800" kern="1200">
        <a:solidFill>
          <a:schemeClr val="tx1"/>
        </a:solidFill>
        <a:latin typeface="Calibri"/>
        <a:ea typeface="Calibri"/>
        <a:cs typeface="Calibri"/>
      </a:defRPr>
    </a:lvl2pPr>
    <a:lvl3pPr marL="914400" algn="l" defTabSz="457200">
      <a:buNone/>
      <a:defRPr sz="1800" kern="1200">
        <a:solidFill>
          <a:schemeClr val="tx1"/>
        </a:solidFill>
        <a:latin typeface="Calibri"/>
        <a:ea typeface="Calibri"/>
        <a:cs typeface="Calibri"/>
      </a:defRPr>
    </a:lvl3pPr>
    <a:lvl4pPr marL="1371600" algn="l" defTabSz="457200">
      <a:buNone/>
      <a:defRPr sz="1800" kern="1200">
        <a:solidFill>
          <a:schemeClr val="tx1"/>
        </a:solidFill>
        <a:latin typeface="Calibri"/>
        <a:ea typeface="Calibri"/>
        <a:cs typeface="Calibri"/>
      </a:defRPr>
    </a:lvl4pPr>
    <a:lvl5pPr marL="1828800" algn="l" defTabSz="457200">
      <a:buNone/>
      <a:defRPr sz="1800" kern="1200">
        <a:solidFill>
          <a:schemeClr val="tx1"/>
        </a:solidFill>
        <a:latin typeface="Calibri"/>
        <a:ea typeface="Calibri"/>
        <a:cs typeface="Calibri"/>
      </a:defRPr>
    </a:lvl5pPr>
    <a:lvl6pPr marL="2286000" algn="l" defTabSz="457200">
      <a:buNone/>
      <a:defRPr sz="1800" kern="1200">
        <a:solidFill>
          <a:schemeClr val="tx1"/>
        </a:solidFill>
        <a:latin typeface="Calibri"/>
        <a:ea typeface="Calibri"/>
        <a:cs typeface="Calibri"/>
      </a:defRPr>
    </a:lvl6pPr>
    <a:lvl7pPr marL="2743200" algn="l" defTabSz="457200">
      <a:buNone/>
      <a:defRPr sz="1800" kern="1200">
        <a:solidFill>
          <a:schemeClr val="tx1"/>
        </a:solidFill>
        <a:latin typeface="Calibri"/>
        <a:ea typeface="Calibri"/>
        <a:cs typeface="Calibri"/>
      </a:defRPr>
    </a:lvl7pPr>
    <a:lvl8pPr marL="3200400" algn="l" defTabSz="457200">
      <a:buNone/>
      <a:defRPr sz="1800" kern="1200">
        <a:solidFill>
          <a:schemeClr val="tx1"/>
        </a:solidFill>
        <a:latin typeface="Calibri"/>
        <a:ea typeface="Calibri"/>
        <a:cs typeface="Calibri"/>
      </a:defRPr>
    </a:lvl8pPr>
    <a:lvl9pPr marL="3657600" algn="l" defTabSz="457200">
      <a:buNone/>
      <a:defRPr sz="1800" kern="1200">
        <a:solidFill>
          <a:schemeClr val="tx1"/>
        </a:solidFill>
        <a:latin typeface="Calibri"/>
        <a:ea typeface="Calibri"/>
        <a:cs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9" d="100"/>
          <a:sy n="139" d="100"/>
        </p:scale>
        <p:origin x="80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Без управления, ζ = 0,02</c:v>
          </c:tx>
          <c:spPr>
            <a:ln w="23813">
              <a:solidFill>
                <a:srgbClr val="777777"/>
              </a:solidFill>
            </a:ln>
          </c:spPr>
          <c:marker>
            <c:symbol val="none"/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70</c:v>
                </c:pt>
                <c:pt idx="1">
                  <c:v>70.5</c:v>
                </c:pt>
                <c:pt idx="2">
                  <c:v>71</c:v>
                </c:pt>
                <c:pt idx="3">
                  <c:v>71.5</c:v>
                </c:pt>
                <c:pt idx="4">
                  <c:v>72</c:v>
                </c:pt>
                <c:pt idx="5">
                  <c:v>72.5</c:v>
                </c:pt>
                <c:pt idx="6">
                  <c:v>73</c:v>
                </c:pt>
                <c:pt idx="7">
                  <c:v>73.5</c:v>
                </c:pt>
                <c:pt idx="8">
                  <c:v>74</c:v>
                </c:pt>
                <c:pt idx="9">
                  <c:v>74.5</c:v>
                </c:pt>
                <c:pt idx="10">
                  <c:v>75</c:v>
                </c:pt>
                <c:pt idx="11">
                  <c:v>75.5</c:v>
                </c:pt>
                <c:pt idx="12">
                  <c:v>76</c:v>
                </c:pt>
                <c:pt idx="13">
                  <c:v>76.5</c:v>
                </c:pt>
                <c:pt idx="14">
                  <c:v>77</c:v>
                </c:pt>
                <c:pt idx="15">
                  <c:v>77.5</c:v>
                </c:pt>
                <c:pt idx="16">
                  <c:v>78</c:v>
                </c:pt>
                <c:pt idx="17">
                  <c:v>78.5</c:v>
                </c:pt>
                <c:pt idx="18">
                  <c:v>79</c:v>
                </c:pt>
                <c:pt idx="19">
                  <c:v>79.5</c:v>
                </c:pt>
                <c:pt idx="20">
                  <c:v>80</c:v>
                </c:pt>
                <c:pt idx="21">
                  <c:v>80.5</c:v>
                </c:pt>
                <c:pt idx="22">
                  <c:v>81</c:v>
                </c:pt>
                <c:pt idx="23">
                  <c:v>81.5</c:v>
                </c:pt>
                <c:pt idx="24">
                  <c:v>82</c:v>
                </c:pt>
                <c:pt idx="25">
                  <c:v>82.5</c:v>
                </c:pt>
                <c:pt idx="26">
                  <c:v>83</c:v>
                </c:pt>
                <c:pt idx="27">
                  <c:v>83.5</c:v>
                </c:pt>
                <c:pt idx="28">
                  <c:v>84</c:v>
                </c:pt>
                <c:pt idx="29">
                  <c:v>84.5</c:v>
                </c:pt>
                <c:pt idx="30">
                  <c:v>85</c:v>
                </c:pt>
                <c:pt idx="31">
                  <c:v>85.5</c:v>
                </c:pt>
                <c:pt idx="32">
                  <c:v>86</c:v>
                </c:pt>
                <c:pt idx="33">
                  <c:v>86.5</c:v>
                </c:pt>
                <c:pt idx="34">
                  <c:v>87</c:v>
                </c:pt>
                <c:pt idx="35">
                  <c:v>87.5</c:v>
                </c:pt>
                <c:pt idx="36">
                  <c:v>88</c:v>
                </c:pt>
                <c:pt idx="37">
                  <c:v>88.5</c:v>
                </c:pt>
                <c:pt idx="38">
                  <c:v>89</c:v>
                </c:pt>
                <c:pt idx="39">
                  <c:v>89.5</c:v>
                </c:pt>
                <c:pt idx="40">
                  <c:v>90</c:v>
                </c:pt>
                <c:pt idx="41">
                  <c:v>90.5</c:v>
                </c:pt>
                <c:pt idx="42">
                  <c:v>91</c:v>
                </c:pt>
                <c:pt idx="43">
                  <c:v>91.5</c:v>
                </c:pt>
                <c:pt idx="44">
                  <c:v>92</c:v>
                </c:pt>
                <c:pt idx="45">
                  <c:v>92.5</c:v>
                </c:pt>
                <c:pt idx="46">
                  <c:v>93</c:v>
                </c:pt>
                <c:pt idx="47">
                  <c:v>93.5</c:v>
                </c:pt>
                <c:pt idx="48">
                  <c:v>94</c:v>
                </c:pt>
                <c:pt idx="49">
                  <c:v>94.5</c:v>
                </c:pt>
                <c:pt idx="50">
                  <c:v>95</c:v>
                </c:pt>
                <c:pt idx="51">
                  <c:v>95.5</c:v>
                </c:pt>
                <c:pt idx="52">
                  <c:v>96</c:v>
                </c:pt>
                <c:pt idx="53">
                  <c:v>96.5</c:v>
                </c:pt>
                <c:pt idx="54">
                  <c:v>97</c:v>
                </c:pt>
                <c:pt idx="55">
                  <c:v>97.5</c:v>
                </c:pt>
                <c:pt idx="56">
                  <c:v>98</c:v>
                </c:pt>
                <c:pt idx="57">
                  <c:v>98.5</c:v>
                </c:pt>
                <c:pt idx="58">
                  <c:v>99</c:v>
                </c:pt>
                <c:pt idx="59">
                  <c:v>99.5</c:v>
                </c:pt>
                <c:pt idx="60">
                  <c:v>100</c:v>
                </c:pt>
                <c:pt idx="61">
                  <c:v>100.5</c:v>
                </c:pt>
                <c:pt idx="62">
                  <c:v>101</c:v>
                </c:pt>
                <c:pt idx="63">
                  <c:v>101.5</c:v>
                </c:pt>
                <c:pt idx="64">
                  <c:v>102</c:v>
                </c:pt>
                <c:pt idx="65">
                  <c:v>102.5</c:v>
                </c:pt>
                <c:pt idx="66">
                  <c:v>103</c:v>
                </c:pt>
                <c:pt idx="67">
                  <c:v>103.5</c:v>
                </c:pt>
                <c:pt idx="68">
                  <c:v>104</c:v>
                </c:pt>
                <c:pt idx="69">
                  <c:v>104.5</c:v>
                </c:pt>
                <c:pt idx="70">
                  <c:v>105</c:v>
                </c:pt>
                <c:pt idx="71">
                  <c:v>105.5</c:v>
                </c:pt>
                <c:pt idx="72">
                  <c:v>106</c:v>
                </c:pt>
                <c:pt idx="73">
                  <c:v>106.5</c:v>
                </c:pt>
                <c:pt idx="74">
                  <c:v>107</c:v>
                </c:pt>
                <c:pt idx="75">
                  <c:v>107.5</c:v>
                </c:pt>
                <c:pt idx="76">
                  <c:v>108</c:v>
                </c:pt>
                <c:pt idx="77">
                  <c:v>108.5</c:v>
                </c:pt>
                <c:pt idx="78">
                  <c:v>109</c:v>
                </c:pt>
                <c:pt idx="79">
                  <c:v>109.5</c:v>
                </c:pt>
                <c:pt idx="80">
                  <c:v>110</c:v>
                </c:pt>
                <c:pt idx="81">
                  <c:v>110.5</c:v>
                </c:pt>
                <c:pt idx="82">
                  <c:v>111</c:v>
                </c:pt>
                <c:pt idx="83">
                  <c:v>111.5</c:v>
                </c:pt>
                <c:pt idx="84">
                  <c:v>112</c:v>
                </c:pt>
                <c:pt idx="85">
                  <c:v>112.5</c:v>
                </c:pt>
                <c:pt idx="86">
                  <c:v>113</c:v>
                </c:pt>
                <c:pt idx="87">
                  <c:v>113.5</c:v>
                </c:pt>
                <c:pt idx="88">
                  <c:v>114</c:v>
                </c:pt>
                <c:pt idx="89">
                  <c:v>114.5</c:v>
                </c:pt>
                <c:pt idx="90">
                  <c:v>115</c:v>
                </c:pt>
                <c:pt idx="91">
                  <c:v>115.5</c:v>
                </c:pt>
                <c:pt idx="92">
                  <c:v>116</c:v>
                </c:pt>
                <c:pt idx="93">
                  <c:v>116.5</c:v>
                </c:pt>
                <c:pt idx="94">
                  <c:v>117</c:v>
                </c:pt>
                <c:pt idx="95">
                  <c:v>117.5</c:v>
                </c:pt>
                <c:pt idx="96">
                  <c:v>118</c:v>
                </c:pt>
                <c:pt idx="97">
                  <c:v>118.5</c:v>
                </c:pt>
                <c:pt idx="98">
                  <c:v>119</c:v>
                </c:pt>
                <c:pt idx="99">
                  <c:v>119.5</c:v>
                </c:pt>
                <c:pt idx="100">
                  <c:v>120</c:v>
                </c:pt>
                <c:pt idx="101">
                  <c:v>120.5</c:v>
                </c:pt>
                <c:pt idx="102">
                  <c:v>121</c:v>
                </c:pt>
                <c:pt idx="103">
                  <c:v>121.5</c:v>
                </c:pt>
                <c:pt idx="104">
                  <c:v>122</c:v>
                </c:pt>
                <c:pt idx="105">
                  <c:v>122.5</c:v>
                </c:pt>
                <c:pt idx="106">
                  <c:v>123</c:v>
                </c:pt>
                <c:pt idx="107">
                  <c:v>123.5</c:v>
                </c:pt>
                <c:pt idx="108">
                  <c:v>124</c:v>
                </c:pt>
                <c:pt idx="109">
                  <c:v>124.5</c:v>
                </c:pt>
                <c:pt idx="110">
                  <c:v>125</c:v>
                </c:pt>
                <c:pt idx="111">
                  <c:v>125.5</c:v>
                </c:pt>
                <c:pt idx="112">
                  <c:v>126</c:v>
                </c:pt>
                <c:pt idx="113">
                  <c:v>126.5</c:v>
                </c:pt>
                <c:pt idx="114">
                  <c:v>127</c:v>
                </c:pt>
                <c:pt idx="115">
                  <c:v>127.5</c:v>
                </c:pt>
                <c:pt idx="116">
                  <c:v>128</c:v>
                </c:pt>
                <c:pt idx="117">
                  <c:v>128.5</c:v>
                </c:pt>
                <c:pt idx="118">
                  <c:v>129</c:v>
                </c:pt>
                <c:pt idx="119">
                  <c:v>129.5</c:v>
                </c:pt>
                <c:pt idx="120">
                  <c:v>130</c:v>
                </c:pt>
              </c:numCache>
            </c:numRef>
          </c:xVal>
          <c:yVal>
            <c:numRef>
              <c:f>'Chart Data'!$B$2:$B$122</c:f>
              <c:numCache>
                <c:formatCode>General</c:formatCode>
                <c:ptCount val="121"/>
                <c:pt idx="0">
                  <c:v>9.9185119999999998</c:v>
                </c:pt>
                <c:pt idx="1">
                  <c:v>10.056395</c:v>
                </c:pt>
                <c:pt idx="2">
                  <c:v>10.199177000000001</c:v>
                </c:pt>
                <c:pt idx="3">
                  <c:v>10.347110000000001</c:v>
                </c:pt>
                <c:pt idx="4">
                  <c:v>10.500467</c:v>
                </c:pt>
                <c:pt idx="5">
                  <c:v>10.65954</c:v>
                </c:pt>
                <c:pt idx="6">
                  <c:v>10.82464</c:v>
                </c:pt>
                <c:pt idx="7">
                  <c:v>10.996104000000001</c:v>
                </c:pt>
                <c:pt idx="8">
                  <c:v>11.174293</c:v>
                </c:pt>
                <c:pt idx="9">
                  <c:v>11.359597000000001</c:v>
                </c:pt>
                <c:pt idx="10">
                  <c:v>11.552436</c:v>
                </c:pt>
                <c:pt idx="11">
                  <c:v>11.753263</c:v>
                </c:pt>
                <c:pt idx="12">
                  <c:v>11.962569999999999</c:v>
                </c:pt>
                <c:pt idx="13">
                  <c:v>12.18089</c:v>
                </c:pt>
                <c:pt idx="14">
                  <c:v>12.408799</c:v>
                </c:pt>
                <c:pt idx="15">
                  <c:v>12.646926000000001</c:v>
                </c:pt>
                <c:pt idx="16">
                  <c:v>12.895955000000001</c:v>
                </c:pt>
                <c:pt idx="17">
                  <c:v>13.156632999999999</c:v>
                </c:pt>
                <c:pt idx="18">
                  <c:v>13.429776</c:v>
                </c:pt>
                <c:pt idx="19">
                  <c:v>13.716278000000001</c:v>
                </c:pt>
                <c:pt idx="20">
                  <c:v>14.017118999999999</c:v>
                </c:pt>
                <c:pt idx="21">
                  <c:v>14.333380999999999</c:v>
                </c:pt>
                <c:pt idx="22">
                  <c:v>14.666252</c:v>
                </c:pt>
                <c:pt idx="23">
                  <c:v>15.017049</c:v>
                </c:pt>
                <c:pt idx="24">
                  <c:v>15.387229</c:v>
                </c:pt>
                <c:pt idx="25">
                  <c:v>15.778411</c:v>
                </c:pt>
                <c:pt idx="26">
                  <c:v>16.192399000000002</c:v>
                </c:pt>
                <c:pt idx="27">
                  <c:v>16.631205999999999</c:v>
                </c:pt>
                <c:pt idx="28">
                  <c:v>17.097090000000001</c:v>
                </c:pt>
                <c:pt idx="29">
                  <c:v>17.592590000000001</c:v>
                </c:pt>
                <c:pt idx="30">
                  <c:v>18.120564999999999</c:v>
                </c:pt>
                <c:pt idx="31">
                  <c:v>18.684256000000001</c:v>
                </c:pt>
                <c:pt idx="32">
                  <c:v>19.287343</c:v>
                </c:pt>
                <c:pt idx="33">
                  <c:v>19.934024000000001</c:v>
                </c:pt>
                <c:pt idx="34">
                  <c:v>20.629107999999999</c:v>
                </c:pt>
                <c:pt idx="35">
                  <c:v>21.378129000000001</c:v>
                </c:pt>
                <c:pt idx="36">
                  <c:v>22.187484999999999</c:v>
                </c:pt>
                <c:pt idx="37">
                  <c:v>23.064608</c:v>
                </c:pt>
                <c:pt idx="38">
                  <c:v>24.018184999999999</c:v>
                </c:pt>
                <c:pt idx="39">
                  <c:v>25.058418</c:v>
                </c:pt>
                <c:pt idx="40">
                  <c:v>26.197368999999998</c:v>
                </c:pt>
                <c:pt idx="41">
                  <c:v>27.449390000000001</c:v>
                </c:pt>
                <c:pt idx="42">
                  <c:v>28.831669999999999</c:v>
                </c:pt>
                <c:pt idx="43">
                  <c:v>30.364953</c:v>
                </c:pt>
                <c:pt idx="44">
                  <c:v>32.074460000000002</c:v>
                </c:pt>
                <c:pt idx="45">
                  <c:v>33.991104</c:v>
                </c:pt>
                <c:pt idx="46">
                  <c:v>36.153089000000001</c:v>
                </c:pt>
                <c:pt idx="47">
                  <c:v>38.608018000000001</c:v>
                </c:pt>
                <c:pt idx="48">
                  <c:v>41.415697999999999</c:v>
                </c:pt>
                <c:pt idx="49">
                  <c:v>44.651800000000001</c:v>
                </c:pt>
                <c:pt idx="50">
                  <c:v>48.412582</c:v>
                </c:pt>
                <c:pt idx="51">
                  <c:v>52.820646000000004</c:v>
                </c:pt>
                <c:pt idx="52">
                  <c:v>58.031106999999999</c:v>
                </c:pt>
                <c:pt idx="53">
                  <c:v>64.235697000000002</c:v>
                </c:pt>
                <c:pt idx="54">
                  <c:v>71.657437000000002</c:v>
                </c:pt>
                <c:pt idx="55">
                  <c:v>80.516244</c:v>
                </c:pt>
                <c:pt idx="56">
                  <c:v>90.918746999999996</c:v>
                </c:pt>
                <c:pt idx="57">
                  <c:v>102.582273</c:v>
                </c:pt>
                <c:pt idx="58">
                  <c:v>114.309078</c:v>
                </c:pt>
                <c:pt idx="59">
                  <c:v>123.46915</c:v>
                </c:pt>
                <c:pt idx="60">
                  <c:v>126.65148000000001</c:v>
                </c:pt>
                <c:pt idx="61">
                  <c:v>122.276561</c:v>
                </c:pt>
                <c:pt idx="62">
                  <c:v>112.269876</c:v>
                </c:pt>
                <c:pt idx="63">
                  <c:v>100.089443</c:v>
                </c:pt>
                <c:pt idx="64">
                  <c:v>88.231560000000002</c:v>
                </c:pt>
                <c:pt idx="65">
                  <c:v>77.765715</c:v>
                </c:pt>
                <c:pt idx="66">
                  <c:v>68.900471999999993</c:v>
                </c:pt>
                <c:pt idx="67">
                  <c:v>61.493979000000003</c:v>
                </c:pt>
                <c:pt idx="68">
                  <c:v>55.311069000000003</c:v>
                </c:pt>
                <c:pt idx="69">
                  <c:v>50.122554999999998</c:v>
                </c:pt>
                <c:pt idx="70">
                  <c:v>45.734459999999999</c:v>
                </c:pt>
                <c:pt idx="71">
                  <c:v>41.991059999999997</c:v>
                </c:pt>
                <c:pt idx="72">
                  <c:v>38.769790999999998</c:v>
                </c:pt>
                <c:pt idx="73">
                  <c:v>35.974663999999997</c:v>
                </c:pt>
                <c:pt idx="74">
                  <c:v>33.530324</c:v>
                </c:pt>
                <c:pt idx="75">
                  <c:v>31.377275999999998</c:v>
                </c:pt>
                <c:pt idx="76">
                  <c:v>29.46818</c:v>
                </c:pt>
                <c:pt idx="77">
                  <c:v>27.765059999999998</c:v>
                </c:pt>
                <c:pt idx="78">
                  <c:v>26.237190999999999</c:v>
                </c:pt>
                <c:pt idx="79">
                  <c:v>24.859504999999999</c:v>
                </c:pt>
                <c:pt idx="80">
                  <c:v>23.611384999999999</c:v>
                </c:pt>
                <c:pt idx="81">
                  <c:v>22.475743999999999</c:v>
                </c:pt>
                <c:pt idx="82">
                  <c:v>21.438316</c:v>
                </c:pt>
                <c:pt idx="83">
                  <c:v>20.487110000000001</c:v>
                </c:pt>
                <c:pt idx="84">
                  <c:v>19.611979000000002</c:v>
                </c:pt>
                <c:pt idx="85">
                  <c:v>18.804286999999999</c:v>
                </c:pt>
                <c:pt idx="86">
                  <c:v>18.056640999999999</c:v>
                </c:pt>
                <c:pt idx="87">
                  <c:v>17.362676</c:v>
                </c:pt>
                <c:pt idx="88">
                  <c:v>16.716888999999998</c:v>
                </c:pt>
                <c:pt idx="89">
                  <c:v>16.114493</c:v>
                </c:pt>
                <c:pt idx="90">
                  <c:v>15.551311999999999</c:v>
                </c:pt>
                <c:pt idx="91">
                  <c:v>15.023682000000001</c:v>
                </c:pt>
                <c:pt idx="92">
                  <c:v>14.52838</c:v>
                </c:pt>
                <c:pt idx="93">
                  <c:v>14.062556000000001</c:v>
                </c:pt>
                <c:pt idx="94">
                  <c:v>13.623685</c:v>
                </c:pt>
                <c:pt idx="95">
                  <c:v>13.209517999999999</c:v>
                </c:pt>
                <c:pt idx="96">
                  <c:v>12.818049999999999</c:v>
                </c:pt>
                <c:pt idx="97">
                  <c:v>12.447485</c:v>
                </c:pt>
                <c:pt idx="98">
                  <c:v>12.096209999999999</c:v>
                </c:pt>
                <c:pt idx="99">
                  <c:v>11.762772999999999</c:v>
                </c:pt>
                <c:pt idx="100">
                  <c:v>11.445865</c:v>
                </c:pt>
                <c:pt idx="101">
                  <c:v>11.144297999999999</c:v>
                </c:pt>
                <c:pt idx="102">
                  <c:v>10.856998000000001</c:v>
                </c:pt>
                <c:pt idx="103">
                  <c:v>10.582986</c:v>
                </c:pt>
                <c:pt idx="104">
                  <c:v>10.321372</c:v>
                </c:pt>
                <c:pt idx="105">
                  <c:v>10.071342</c:v>
                </c:pt>
                <c:pt idx="106">
                  <c:v>9.8321520000000007</c:v>
                </c:pt>
                <c:pt idx="107">
                  <c:v>9.6031200000000005</c:v>
                </c:pt>
                <c:pt idx="108">
                  <c:v>9.3836200000000005</c:v>
                </c:pt>
                <c:pt idx="109">
                  <c:v>9.173076</c:v>
                </c:pt>
                <c:pt idx="110">
                  <c:v>8.9709559999999993</c:v>
                </c:pt>
                <c:pt idx="111">
                  <c:v>8.7767730000000004</c:v>
                </c:pt>
                <c:pt idx="112">
                  <c:v>8.5900719999999993</c:v>
                </c:pt>
                <c:pt idx="113">
                  <c:v>8.4104340000000004</c:v>
                </c:pt>
                <c:pt idx="114">
                  <c:v>8.2374720000000003</c:v>
                </c:pt>
                <c:pt idx="115">
                  <c:v>8.0708249999999992</c:v>
                </c:pt>
                <c:pt idx="116">
                  <c:v>7.910158</c:v>
                </c:pt>
                <c:pt idx="117">
                  <c:v>7.7551579999999998</c:v>
                </c:pt>
                <c:pt idx="118">
                  <c:v>7.6055349999999997</c:v>
                </c:pt>
                <c:pt idx="119">
                  <c:v>7.4610180000000001</c:v>
                </c:pt>
                <c:pt idx="120">
                  <c:v>7.3213530000000002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813-42BC-8818-6C05E1BF56B8}"/>
            </c:ext>
          </c:extLst>
        </c:ser>
        <c:ser>
          <c:idx val="1"/>
          <c:order val="1"/>
          <c:tx>
            <c:v>С управлением, ζ = 0,10</c:v>
          </c:tx>
          <c:spPr>
            <a:ln w="28575">
              <a:solidFill>
                <a:srgbClr val="8200FF"/>
              </a:solidFill>
            </a:ln>
          </c:spPr>
          <c:marker>
            <c:symbol val="none"/>
          </c:marker>
          <c:xVal>
            <c:numRef>
              <c:f>'Chart Data'!$C$2:$C$122</c:f>
              <c:numCache>
                <c:formatCode>General</c:formatCode>
                <c:ptCount val="121"/>
                <c:pt idx="0">
                  <c:v>70</c:v>
                </c:pt>
                <c:pt idx="1">
                  <c:v>70.5</c:v>
                </c:pt>
                <c:pt idx="2">
                  <c:v>71</c:v>
                </c:pt>
                <c:pt idx="3">
                  <c:v>71.5</c:v>
                </c:pt>
                <c:pt idx="4">
                  <c:v>72</c:v>
                </c:pt>
                <c:pt idx="5">
                  <c:v>72.5</c:v>
                </c:pt>
                <c:pt idx="6">
                  <c:v>73</c:v>
                </c:pt>
                <c:pt idx="7">
                  <c:v>73.5</c:v>
                </c:pt>
                <c:pt idx="8">
                  <c:v>74</c:v>
                </c:pt>
                <c:pt idx="9">
                  <c:v>74.5</c:v>
                </c:pt>
                <c:pt idx="10">
                  <c:v>75</c:v>
                </c:pt>
                <c:pt idx="11">
                  <c:v>75.5</c:v>
                </c:pt>
                <c:pt idx="12">
                  <c:v>76</c:v>
                </c:pt>
                <c:pt idx="13">
                  <c:v>76.5</c:v>
                </c:pt>
                <c:pt idx="14">
                  <c:v>77</c:v>
                </c:pt>
                <c:pt idx="15">
                  <c:v>77.5</c:v>
                </c:pt>
                <c:pt idx="16">
                  <c:v>78</c:v>
                </c:pt>
                <c:pt idx="17">
                  <c:v>78.5</c:v>
                </c:pt>
                <c:pt idx="18">
                  <c:v>79</c:v>
                </c:pt>
                <c:pt idx="19">
                  <c:v>79.5</c:v>
                </c:pt>
                <c:pt idx="20">
                  <c:v>80</c:v>
                </c:pt>
                <c:pt idx="21">
                  <c:v>80.5</c:v>
                </c:pt>
                <c:pt idx="22">
                  <c:v>81</c:v>
                </c:pt>
                <c:pt idx="23">
                  <c:v>81.5</c:v>
                </c:pt>
                <c:pt idx="24">
                  <c:v>82</c:v>
                </c:pt>
                <c:pt idx="25">
                  <c:v>82.5</c:v>
                </c:pt>
                <c:pt idx="26">
                  <c:v>83</c:v>
                </c:pt>
                <c:pt idx="27">
                  <c:v>83.5</c:v>
                </c:pt>
                <c:pt idx="28">
                  <c:v>84</c:v>
                </c:pt>
                <c:pt idx="29">
                  <c:v>84.5</c:v>
                </c:pt>
                <c:pt idx="30">
                  <c:v>85</c:v>
                </c:pt>
                <c:pt idx="31">
                  <c:v>85.5</c:v>
                </c:pt>
                <c:pt idx="32">
                  <c:v>86</c:v>
                </c:pt>
                <c:pt idx="33">
                  <c:v>86.5</c:v>
                </c:pt>
                <c:pt idx="34">
                  <c:v>87</c:v>
                </c:pt>
                <c:pt idx="35">
                  <c:v>87.5</c:v>
                </c:pt>
                <c:pt idx="36">
                  <c:v>88</c:v>
                </c:pt>
                <c:pt idx="37">
                  <c:v>88.5</c:v>
                </c:pt>
                <c:pt idx="38">
                  <c:v>89</c:v>
                </c:pt>
                <c:pt idx="39">
                  <c:v>89.5</c:v>
                </c:pt>
                <c:pt idx="40">
                  <c:v>90</c:v>
                </c:pt>
                <c:pt idx="41">
                  <c:v>90.5</c:v>
                </c:pt>
                <c:pt idx="42">
                  <c:v>91</c:v>
                </c:pt>
                <c:pt idx="43">
                  <c:v>91.5</c:v>
                </c:pt>
                <c:pt idx="44">
                  <c:v>92</c:v>
                </c:pt>
                <c:pt idx="45">
                  <c:v>92.5</c:v>
                </c:pt>
                <c:pt idx="46">
                  <c:v>93</c:v>
                </c:pt>
                <c:pt idx="47">
                  <c:v>93.5</c:v>
                </c:pt>
                <c:pt idx="48">
                  <c:v>94</c:v>
                </c:pt>
                <c:pt idx="49">
                  <c:v>94.5</c:v>
                </c:pt>
                <c:pt idx="50">
                  <c:v>95</c:v>
                </c:pt>
                <c:pt idx="51">
                  <c:v>95.5</c:v>
                </c:pt>
                <c:pt idx="52">
                  <c:v>96</c:v>
                </c:pt>
                <c:pt idx="53">
                  <c:v>96.5</c:v>
                </c:pt>
                <c:pt idx="54">
                  <c:v>97</c:v>
                </c:pt>
                <c:pt idx="55">
                  <c:v>97.5</c:v>
                </c:pt>
                <c:pt idx="56">
                  <c:v>98</c:v>
                </c:pt>
                <c:pt idx="57">
                  <c:v>98.5</c:v>
                </c:pt>
                <c:pt idx="58">
                  <c:v>99</c:v>
                </c:pt>
                <c:pt idx="59">
                  <c:v>99.5</c:v>
                </c:pt>
                <c:pt idx="60">
                  <c:v>100</c:v>
                </c:pt>
                <c:pt idx="61">
                  <c:v>100.5</c:v>
                </c:pt>
                <c:pt idx="62">
                  <c:v>101</c:v>
                </c:pt>
                <c:pt idx="63">
                  <c:v>101.5</c:v>
                </c:pt>
                <c:pt idx="64">
                  <c:v>102</c:v>
                </c:pt>
                <c:pt idx="65">
                  <c:v>102.5</c:v>
                </c:pt>
                <c:pt idx="66">
                  <c:v>103</c:v>
                </c:pt>
                <c:pt idx="67">
                  <c:v>103.5</c:v>
                </c:pt>
                <c:pt idx="68">
                  <c:v>104</c:v>
                </c:pt>
                <c:pt idx="69">
                  <c:v>104.5</c:v>
                </c:pt>
                <c:pt idx="70">
                  <c:v>105</c:v>
                </c:pt>
                <c:pt idx="71">
                  <c:v>105.5</c:v>
                </c:pt>
                <c:pt idx="72">
                  <c:v>106</c:v>
                </c:pt>
                <c:pt idx="73">
                  <c:v>106.5</c:v>
                </c:pt>
                <c:pt idx="74">
                  <c:v>107</c:v>
                </c:pt>
                <c:pt idx="75">
                  <c:v>107.5</c:v>
                </c:pt>
                <c:pt idx="76">
                  <c:v>108</c:v>
                </c:pt>
                <c:pt idx="77">
                  <c:v>108.5</c:v>
                </c:pt>
                <c:pt idx="78">
                  <c:v>109</c:v>
                </c:pt>
                <c:pt idx="79">
                  <c:v>109.5</c:v>
                </c:pt>
                <c:pt idx="80">
                  <c:v>110</c:v>
                </c:pt>
                <c:pt idx="81">
                  <c:v>110.5</c:v>
                </c:pt>
                <c:pt idx="82">
                  <c:v>111</c:v>
                </c:pt>
                <c:pt idx="83">
                  <c:v>111.5</c:v>
                </c:pt>
                <c:pt idx="84">
                  <c:v>112</c:v>
                </c:pt>
                <c:pt idx="85">
                  <c:v>112.5</c:v>
                </c:pt>
                <c:pt idx="86">
                  <c:v>113</c:v>
                </c:pt>
                <c:pt idx="87">
                  <c:v>113.5</c:v>
                </c:pt>
                <c:pt idx="88">
                  <c:v>114</c:v>
                </c:pt>
                <c:pt idx="89">
                  <c:v>114.5</c:v>
                </c:pt>
                <c:pt idx="90">
                  <c:v>115</c:v>
                </c:pt>
                <c:pt idx="91">
                  <c:v>115.5</c:v>
                </c:pt>
                <c:pt idx="92">
                  <c:v>116</c:v>
                </c:pt>
                <c:pt idx="93">
                  <c:v>116.5</c:v>
                </c:pt>
                <c:pt idx="94">
                  <c:v>117</c:v>
                </c:pt>
                <c:pt idx="95">
                  <c:v>117.5</c:v>
                </c:pt>
                <c:pt idx="96">
                  <c:v>118</c:v>
                </c:pt>
                <c:pt idx="97">
                  <c:v>118.5</c:v>
                </c:pt>
                <c:pt idx="98">
                  <c:v>119</c:v>
                </c:pt>
                <c:pt idx="99">
                  <c:v>119.5</c:v>
                </c:pt>
                <c:pt idx="100">
                  <c:v>120</c:v>
                </c:pt>
                <c:pt idx="101">
                  <c:v>120.5</c:v>
                </c:pt>
                <c:pt idx="102">
                  <c:v>121</c:v>
                </c:pt>
                <c:pt idx="103">
                  <c:v>121.5</c:v>
                </c:pt>
                <c:pt idx="104">
                  <c:v>122</c:v>
                </c:pt>
                <c:pt idx="105">
                  <c:v>122.5</c:v>
                </c:pt>
                <c:pt idx="106">
                  <c:v>123</c:v>
                </c:pt>
                <c:pt idx="107">
                  <c:v>123.5</c:v>
                </c:pt>
                <c:pt idx="108">
                  <c:v>124</c:v>
                </c:pt>
                <c:pt idx="109">
                  <c:v>124.5</c:v>
                </c:pt>
                <c:pt idx="110">
                  <c:v>125</c:v>
                </c:pt>
                <c:pt idx="111">
                  <c:v>125.5</c:v>
                </c:pt>
                <c:pt idx="112">
                  <c:v>126</c:v>
                </c:pt>
                <c:pt idx="113">
                  <c:v>126.5</c:v>
                </c:pt>
                <c:pt idx="114">
                  <c:v>127</c:v>
                </c:pt>
                <c:pt idx="115">
                  <c:v>127.5</c:v>
                </c:pt>
                <c:pt idx="116">
                  <c:v>128</c:v>
                </c:pt>
                <c:pt idx="117">
                  <c:v>128.5</c:v>
                </c:pt>
                <c:pt idx="118">
                  <c:v>129</c:v>
                </c:pt>
                <c:pt idx="119">
                  <c:v>129.5</c:v>
                </c:pt>
                <c:pt idx="120">
                  <c:v>130</c:v>
                </c:pt>
              </c:numCache>
            </c:numRef>
          </c:xVal>
          <c:yVal>
            <c:numRef>
              <c:f>'Chart Data'!$D$2:$D$122</c:f>
              <c:numCache>
                <c:formatCode>General</c:formatCode>
                <c:ptCount val="121"/>
                <c:pt idx="0">
                  <c:v>9.5790849999999992</c:v>
                </c:pt>
                <c:pt idx="1">
                  <c:v>9.6983189999999997</c:v>
                </c:pt>
                <c:pt idx="2">
                  <c:v>9.8211759999999995</c:v>
                </c:pt>
                <c:pt idx="3">
                  <c:v>9.9478019999999994</c:v>
                </c:pt>
                <c:pt idx="4">
                  <c:v>10.078351</c:v>
                </c:pt>
                <c:pt idx="5">
                  <c:v>10.212985</c:v>
                </c:pt>
                <c:pt idx="6">
                  <c:v>10.351872999999999</c:v>
                </c:pt>
                <c:pt idx="7">
                  <c:v>10.495191999999999</c:v>
                </c:pt>
                <c:pt idx="8">
                  <c:v>10.643128000000001</c:v>
                </c:pt>
                <c:pt idx="9">
                  <c:v>10.795876</c:v>
                </c:pt>
                <c:pt idx="10">
                  <c:v>10.953640999999999</c:v>
                </c:pt>
                <c:pt idx="11">
                  <c:v>11.116637000000001</c:v>
                </c:pt>
                <c:pt idx="12">
                  <c:v>11.285088999999999</c:v>
                </c:pt>
                <c:pt idx="13">
                  <c:v>11.45923</c:v>
                </c:pt>
                <c:pt idx="14">
                  <c:v>11.639305999999999</c:v>
                </c:pt>
                <c:pt idx="15">
                  <c:v>11.825573</c:v>
                </c:pt>
                <c:pt idx="16">
                  <c:v>12.018298</c:v>
                </c:pt>
                <c:pt idx="17">
                  <c:v>12.21776</c:v>
                </c:pt>
                <c:pt idx="18">
                  <c:v>12.424246999999999</c:v>
                </c:pt>
                <c:pt idx="19">
                  <c:v>12.638059999999999</c:v>
                </c:pt>
                <c:pt idx="20">
                  <c:v>12.859508999999999</c:v>
                </c:pt>
                <c:pt idx="21">
                  <c:v>13.088914000000001</c:v>
                </c:pt>
                <c:pt idx="22">
                  <c:v>13.326604</c:v>
                </c:pt>
                <c:pt idx="23">
                  <c:v>13.572914000000001</c:v>
                </c:pt>
                <c:pt idx="24">
                  <c:v>13.828188000000001</c:v>
                </c:pt>
                <c:pt idx="25">
                  <c:v>14.092769000000001</c:v>
                </c:pt>
                <c:pt idx="26">
                  <c:v>14.367004</c:v>
                </c:pt>
                <c:pt idx="27">
                  <c:v>14.651234000000001</c:v>
                </c:pt>
                <c:pt idx="28">
                  <c:v>14.945795</c:v>
                </c:pt>
                <c:pt idx="29">
                  <c:v>15.251004999999999</c:v>
                </c:pt>
                <c:pt idx="30">
                  <c:v>15.567163000000001</c:v>
                </c:pt>
                <c:pt idx="31">
                  <c:v>15.894537</c:v>
                </c:pt>
                <c:pt idx="32">
                  <c:v>16.233353999999999</c:v>
                </c:pt>
                <c:pt idx="33">
                  <c:v>16.583787000000001</c:v>
                </c:pt>
                <c:pt idx="34">
                  <c:v>16.945938000000002</c:v>
                </c:pt>
                <c:pt idx="35">
                  <c:v>17.319821000000001</c:v>
                </c:pt>
                <c:pt idx="36">
                  <c:v>17.705338999999999</c:v>
                </c:pt>
                <c:pt idx="37">
                  <c:v>18.102260000000001</c:v>
                </c:pt>
                <c:pt idx="38">
                  <c:v>18.510185</c:v>
                </c:pt>
                <c:pt idx="39">
                  <c:v>18.928515999999998</c:v>
                </c:pt>
                <c:pt idx="40">
                  <c:v>19.356417</c:v>
                </c:pt>
                <c:pt idx="41">
                  <c:v>19.792774999999999</c:v>
                </c:pt>
                <c:pt idx="42">
                  <c:v>20.236151</c:v>
                </c:pt>
                <c:pt idx="43">
                  <c:v>20.684736999999998</c:v>
                </c:pt>
                <c:pt idx="44">
                  <c:v>21.136310000000002</c:v>
                </c:pt>
                <c:pt idx="45">
                  <c:v>21.588183999999998</c:v>
                </c:pt>
                <c:pt idx="46">
                  <c:v>22.037175999999999</c:v>
                </c:pt>
                <c:pt idx="47">
                  <c:v>22.479581</c:v>
                </c:pt>
                <c:pt idx="48">
                  <c:v>22.911161</c:v>
                </c:pt>
                <c:pt idx="49">
                  <c:v>23.327164</c:v>
                </c:pt>
                <c:pt idx="50">
                  <c:v>23.722370000000002</c:v>
                </c:pt>
                <c:pt idx="51">
                  <c:v>24.091173000000001</c:v>
                </c:pt>
                <c:pt idx="52">
                  <c:v>24.427707000000002</c:v>
                </c:pt>
                <c:pt idx="53">
                  <c:v>24.726019999999998</c:v>
                </c:pt>
                <c:pt idx="54">
                  <c:v>24.980273</c:v>
                </c:pt>
                <c:pt idx="55">
                  <c:v>25.184991</c:v>
                </c:pt>
                <c:pt idx="56">
                  <c:v>25.335312999999999</c:v>
                </c:pt>
                <c:pt idx="57">
                  <c:v>25.427247000000001</c:v>
                </c:pt>
                <c:pt idx="58">
                  <c:v>25.457902000000001</c:v>
                </c:pt>
                <c:pt idx="59">
                  <c:v>25.425661999999999</c:v>
                </c:pt>
                <c:pt idx="60">
                  <c:v>25.330296000000001</c:v>
                </c:pt>
                <c:pt idx="61">
                  <c:v>25.172984</c:v>
                </c:pt>
                <c:pt idx="62">
                  <c:v>24.956256</c:v>
                </c:pt>
                <c:pt idx="63">
                  <c:v>24.683852000000002</c:v>
                </c:pt>
                <c:pt idx="64">
                  <c:v>24.360513999999998</c:v>
                </c:pt>
                <c:pt idx="65">
                  <c:v>23.991743</c:v>
                </c:pt>
                <c:pt idx="66">
                  <c:v>23.583531000000001</c:v>
                </c:pt>
                <c:pt idx="67">
                  <c:v>23.142101</c:v>
                </c:pt>
                <c:pt idx="68">
                  <c:v>22.673670999999999</c:v>
                </c:pt>
                <c:pt idx="69">
                  <c:v>22.184251</c:v>
                </c:pt>
                <c:pt idx="70">
                  <c:v>21.679490999999999</c:v>
                </c:pt>
                <c:pt idx="71">
                  <c:v>21.164569</c:v>
                </c:pt>
                <c:pt idx="72">
                  <c:v>20.644121999999999</c:v>
                </c:pt>
                <c:pt idx="73">
                  <c:v>20.122216000000002</c:v>
                </c:pt>
                <c:pt idx="74">
                  <c:v>19.602343999999999</c:v>
                </c:pt>
                <c:pt idx="75">
                  <c:v>19.087446</c:v>
                </c:pt>
                <c:pt idx="76">
                  <c:v>18.579948000000002</c:v>
                </c:pt>
                <c:pt idx="77">
                  <c:v>18.081804999999999</c:v>
                </c:pt>
                <c:pt idx="78">
                  <c:v>17.594555</c:v>
                </c:pt>
                <c:pt idx="79">
                  <c:v>17.119368999999999</c:v>
                </c:pt>
                <c:pt idx="80">
                  <c:v>16.6571</c:v>
                </c:pt>
                <c:pt idx="81">
                  <c:v>16.208335999999999</c:v>
                </c:pt>
                <c:pt idx="82">
                  <c:v>15.773438000000001</c:v>
                </c:pt>
                <c:pt idx="83">
                  <c:v>15.352582999999999</c:v>
                </c:pt>
                <c:pt idx="84">
                  <c:v>14.945795</c:v>
                </c:pt>
                <c:pt idx="85">
                  <c:v>14.552977</c:v>
                </c:pt>
                <c:pt idx="86">
                  <c:v>14.173935999999999</c:v>
                </c:pt>
                <c:pt idx="87">
                  <c:v>13.808403</c:v>
                </c:pt>
                <c:pt idx="88">
                  <c:v>13.456052</c:v>
                </c:pt>
                <c:pt idx="89">
                  <c:v>13.116517</c:v>
                </c:pt>
                <c:pt idx="90">
                  <c:v>12.789399</c:v>
                </c:pt>
                <c:pt idx="91">
                  <c:v>12.474282000000001</c:v>
                </c:pt>
                <c:pt idx="92">
                  <c:v>12.170737000000001</c:v>
                </c:pt>
                <c:pt idx="93">
                  <c:v>11.878332</c:v>
                </c:pt>
                <c:pt idx="94">
                  <c:v>11.596633000000001</c:v>
                </c:pt>
                <c:pt idx="95">
                  <c:v>11.325210999999999</c:v>
                </c:pt>
                <c:pt idx="96">
                  <c:v>11.063644999999999</c:v>
                </c:pt>
                <c:pt idx="97">
                  <c:v>10.811522999999999</c:v>
                </c:pt>
                <c:pt idx="98">
                  <c:v>10.568446</c:v>
                </c:pt>
                <c:pt idx="99">
                  <c:v>10.334025</c:v>
                </c:pt>
                <c:pt idx="100">
                  <c:v>10.107888000000001</c:v>
                </c:pt>
                <c:pt idx="101">
                  <c:v>9.8896759999999997</c:v>
                </c:pt>
                <c:pt idx="102">
                  <c:v>9.6790420000000008</c:v>
                </c:pt>
                <c:pt idx="103">
                  <c:v>9.475657</c:v>
                </c:pt>
                <c:pt idx="104">
                  <c:v>9.279204</c:v>
                </c:pt>
                <c:pt idx="105">
                  <c:v>9.0893809999999995</c:v>
                </c:pt>
                <c:pt idx="106">
                  <c:v>8.9059000000000008</c:v>
                </c:pt>
                <c:pt idx="107">
                  <c:v>8.7284860000000002</c:v>
                </c:pt>
                <c:pt idx="108">
                  <c:v>8.5568760000000008</c:v>
                </c:pt>
                <c:pt idx="109">
                  <c:v>8.390822</c:v>
                </c:pt>
                <c:pt idx="110">
                  <c:v>8.230086</c:v>
                </c:pt>
                <c:pt idx="111">
                  <c:v>8.0744419999999995</c:v>
                </c:pt>
                <c:pt idx="112">
                  <c:v>7.9236750000000002</c:v>
                </c:pt>
                <c:pt idx="113">
                  <c:v>7.7775800000000004</c:v>
                </c:pt>
                <c:pt idx="114">
                  <c:v>7.6359620000000001</c:v>
                </c:pt>
                <c:pt idx="115">
                  <c:v>7.4986379999999997</c:v>
                </c:pt>
                <c:pt idx="116">
                  <c:v>7.3654299999999999</c:v>
                </c:pt>
                <c:pt idx="117">
                  <c:v>7.2361719999999998</c:v>
                </c:pt>
                <c:pt idx="118">
                  <c:v>7.110703</c:v>
                </c:pt>
                <c:pt idx="119">
                  <c:v>6.9888719999999998</c:v>
                </c:pt>
                <c:pt idx="120">
                  <c:v>6.8705360000000004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813-42BC-8818-6C05E1BF56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w="6668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ru-RU" sz="1500">
                    <a:solidFill>
                      <a:srgbClr val="181818"/>
                    </a:solidFill>
                    <a:latin typeface="Calibri"/>
                    <a:ea typeface="Calibri"/>
                    <a:cs typeface="Calibri"/>
                  </a:rPr>
                  <a:t>Амплитуда </a:t>
                </a:r>
                <a:r>
                  <a:rPr lang="en-US" sz="1500">
                    <a:solidFill>
                      <a:srgbClr val="181818"/>
                    </a:solidFill>
                    <a:latin typeface="Calibri"/>
                    <a:ea typeface="Calibri"/>
                    <a:cs typeface="Calibri"/>
                  </a:rPr>
                  <a:t>X, </a:t>
                </a:r>
                <a:r>
                  <a:rPr lang="ru-RU" sz="1500">
                    <a:solidFill>
                      <a:srgbClr val="181818"/>
                    </a:solidFill>
                    <a:latin typeface="Calibri"/>
                    <a:ea typeface="Calibri"/>
                    <a:cs typeface="Calibri"/>
                  </a:rPr>
                  <a:t>мкм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8A8A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20"/>
      </c:valAx>
      <c:valAx>
        <c:axId val="48650112"/>
        <c:scaling>
          <c:orientation val="minMax"/>
          <c:max val="130"/>
          <c:min val="70"/>
        </c:scaling>
        <c:delete val="0"/>
        <c:axPos val="b"/>
        <c:title>
          <c:tx>
            <c:rich>
              <a:bodyPr/>
              <a:lstStyle/>
              <a:p>
                <a:r>
                  <a:rPr lang="ru-RU" sz="1500">
                    <a:solidFill>
                      <a:srgbClr val="181818"/>
                    </a:solidFill>
                    <a:latin typeface="Calibri"/>
                    <a:ea typeface="Calibri"/>
                    <a:cs typeface="Calibri"/>
                  </a:rPr>
                  <a:t>Частота </a:t>
                </a:r>
                <a:r>
                  <a:rPr lang="en-US" sz="1500">
                    <a:solidFill>
                      <a:srgbClr val="181818"/>
                    </a:solidFill>
                    <a:latin typeface="Calibri"/>
                    <a:ea typeface="Calibri"/>
                    <a:cs typeface="Calibri"/>
                  </a:rPr>
                  <a:t>f, </a:t>
                </a:r>
                <a:r>
                  <a:rPr lang="ru-RU" sz="1500">
                    <a:solidFill>
                      <a:srgbClr val="181818"/>
                    </a:solidFill>
                    <a:latin typeface="Calibri"/>
                    <a:ea typeface="Calibri"/>
                    <a:cs typeface="Calibri"/>
                  </a:rPr>
                  <a:t>Гц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8A8A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0"/>
      </c:valAx>
      <c:spPr>
        <a:solidFill>
          <a:srgbClr val="FFFFFF"/>
        </a:solidFill>
      </c:spPr>
    </c:plotArea>
    <c:legend>
      <c:legendPos val="t"/>
      <c:overlay val="0"/>
      <c:txPr>
        <a:bodyPr anchorCtr="1"/>
        <a:lstStyle/>
        <a:p>
          <a:pPr>
            <a:defRPr sz="1350">
              <a:solidFill>
                <a:srgbClr val="181818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A6F230-7E07-41E4-AF69-73A3F311E245}"/>
              </a:ext>
            </a:extLst>
          </p:cNvPr>
          <p:cNvSpPr>
            <a:spLocks noGrp="1"/>
          </p:cNvSpPr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487F4F-4E8C-4BCE-85B6-C65BB06B576E}"/>
              </a:ext>
            </a:extLst>
          </p:cNvPr>
          <p:cNvSpPr>
            <a:spLocks noGrp="1"/>
          </p:cNvSpPr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>
            <a:spLocks noGrp="1"/>
          </p:cNvSpPr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>
            <a:spLocks noGrp="1"/>
          </p:cNvSpPr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2000" baseline="0"/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r>
              <a:rPr sz="2000">
                <a:latin typeface="Calibri"/>
                <a:ea typeface="Calibri"/>
                <a:cs typeface="Calibri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sz="2000"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sz="1800" b="1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sz="18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8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8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конец списка.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EEAF-A5C5-4D23-804D-EC380B87D5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4152B-BF4E-4DD7-A0CE-90314F38B01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/>
              <a:buNone/>
              <a:defRPr sz="1400" baseline="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r>
              <a:rPr sz="2400">
                <a:latin typeface="Calibri"/>
                <a:ea typeface="Calibri"/>
                <a:cs typeface="Calibri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sz="2400"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sz="2000" b="1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sz="20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20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20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конец списка.</a:t>
            </a:r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r>
              <a:rPr sz="1200">
                <a:latin typeface="Calibri"/>
                <a:ea typeface="Calibri"/>
                <a:cs typeface="Calibri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sz="1200">
                <a:latin typeface="Calibri"/>
                <a:ea typeface="Calibri"/>
                <a:cs typeface="Calibri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sz="1200" b="1" i="0">
              <a:solidFill>
                <a:srgbClr val="2C2D2E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sz="1200" b="1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sz="12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2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2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/>
              <a:buNone/>
              <a:defRPr sz="1400" baseline="0"/>
            </a:lvl5pPr>
          </a:lstStyle>
          <a:p>
            <a:r>
              <a:rPr sz="1400">
                <a:latin typeface="Calibri"/>
                <a:ea typeface="Calibri"/>
                <a:cs typeface="Calibri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sz="2000">
                <a:latin typeface="Calibri"/>
                <a:ea typeface="Calibri"/>
                <a:cs typeface="Calibri"/>
              </a:rPr>
              <a:t>Основной текст слайда, ключевая формулировка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sz="1600">
                <a:latin typeface="Calibri"/>
                <a:ea typeface="Calibri"/>
                <a:cs typeface="Calibri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sz="1600"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sz="1400" b="1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sz="14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4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4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r>
              <a:rPr sz="1200">
                <a:latin typeface="Calibri"/>
                <a:ea typeface="Calibri"/>
                <a:cs typeface="Calibri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sz="1200">
                <a:latin typeface="Calibri"/>
                <a:ea typeface="Calibri"/>
                <a:cs typeface="Calibri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sz="1200" b="1" i="0">
              <a:solidFill>
                <a:srgbClr val="2C2D2E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sz="1200" b="1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sz="12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2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2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/>
              <a:buNone/>
              <a:defRPr sz="1400" baseline="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sz="1400">
                <a:latin typeface="Calibri"/>
                <a:ea typeface="Calibri"/>
                <a:cs typeface="Calibri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sz="1400" b="1" i="0">
              <a:solidFill>
                <a:srgbClr val="2C2D2E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sz="1400" b="1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sz="14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4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4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конец списка.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sz="2000">
                <a:latin typeface="Calibri"/>
                <a:ea typeface="Calibri"/>
                <a:cs typeface="Calibri"/>
              </a:rPr>
              <a:t>Основной текст слайда, ключевая формулировка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sz="1600">
                <a:latin typeface="Calibri"/>
                <a:ea typeface="Calibri"/>
                <a:cs typeface="Calibri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sz="1600"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sz="1400" b="1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sz="14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4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4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r>
              <a:rPr sz="1200">
                <a:latin typeface="Calibri"/>
                <a:ea typeface="Calibri"/>
                <a:cs typeface="Calibri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sz="1200">
                <a:latin typeface="Calibri"/>
                <a:ea typeface="Calibri"/>
                <a:cs typeface="Calibri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sz="1200" b="1" i="0">
              <a:solidFill>
                <a:srgbClr val="2C2D2E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sz="1200" b="1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sz="12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2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2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/>
              <a:buNone/>
              <a:defRPr sz="1400" baseline="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sz="1400">
                <a:latin typeface="Calibri"/>
                <a:ea typeface="Calibri"/>
                <a:cs typeface="Calibri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sz="1400" b="1" i="0">
              <a:solidFill>
                <a:srgbClr val="2C2D2E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sz="1400" b="1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sz="14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4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4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конец списка.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sz="2000">
                <a:latin typeface="Calibri"/>
                <a:ea typeface="Calibri"/>
                <a:cs typeface="Calibri"/>
              </a:rPr>
              <a:t>Основной текст слайда, ключевая формулировка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sz="1600">
                <a:latin typeface="Calibri"/>
                <a:ea typeface="Calibri"/>
                <a:cs typeface="Calibri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sz="1600"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sz="1600" b="1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sz="16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список;</a:t>
            </a:r>
          </a:p>
          <a:p>
            <a:pPr algn="l">
              <a:buFont typeface="Arial"/>
              <a:buChar char="•"/>
            </a:pPr>
            <a:r>
              <a:rPr sz="16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список;</a:t>
            </a:r>
          </a:p>
          <a:p>
            <a:pPr algn="l">
              <a:buFont typeface="Arial"/>
              <a:buChar char="•"/>
            </a:pPr>
            <a:r>
              <a:rPr sz="16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конец списка.</a:t>
            </a:r>
          </a:p>
          <a:p>
            <a:pPr lvl="0">
              <a:buNone/>
            </a:pPr>
            <a:endParaRPr/>
          </a:p>
          <a:p>
            <a:pPr lvl="0">
              <a:buNone/>
            </a:pPr>
            <a:endParaRPr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r>
              <a:rPr sz="1200">
                <a:latin typeface="Calibri"/>
                <a:ea typeface="Calibri"/>
                <a:cs typeface="Calibri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sz="1200">
                <a:latin typeface="Calibri"/>
                <a:ea typeface="Calibri"/>
                <a:cs typeface="Calibri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sz="1200" b="1" i="0">
              <a:solidFill>
                <a:srgbClr val="2C2D2E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sz="1200" b="1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sz="12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2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2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/>
              <a:buNone/>
              <a:defRPr sz="1400" baseline="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sz="1400">
                <a:latin typeface="Calibri"/>
                <a:ea typeface="Calibri"/>
                <a:cs typeface="Calibri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sz="1400" b="1" i="0">
              <a:solidFill>
                <a:srgbClr val="2C2D2E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sz="1400" b="1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sz="14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4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sz="1400" b="0" i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конец списка.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/>
              <a:buNone/>
              <a:defRPr sz="1400" baseline="0"/>
            </a:lvl5pPr>
          </a:lstStyle>
          <a:p>
            <a:r>
              <a:rPr sz="1400">
                <a:latin typeface="Calibri"/>
                <a:ea typeface="Calibri"/>
                <a:cs typeface="Calibri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/>
              <a:buNone/>
              <a:defRPr sz="1400" baseline="0"/>
            </a:lvl5pPr>
          </a:lstStyle>
          <a:p>
            <a:r>
              <a:rPr sz="1400">
                <a:latin typeface="Calibri"/>
                <a:ea typeface="Calibri"/>
                <a:cs typeface="Calibri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/>
              <a:buNone/>
              <a:defRPr sz="1400" baseline="0"/>
            </a:lvl5pPr>
          </a:lstStyle>
          <a:p>
            <a:r>
              <a:rPr sz="1400">
                <a:latin typeface="Calibri"/>
                <a:ea typeface="Calibri"/>
                <a:cs typeface="Calibri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61E4F224-8CBB-41CA-9667-F1F70CC7C7BB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3599CE2A-E348-4587-82EB-FFBDC2C35FF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DC8EDE46-1252-48DD-889B-B0733C78956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6F139F5-C8D2-44F5-BA19-97FF3E6EDBB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Текст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17333644-6EE0-4343-AADE-01593F18832F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buNone/>
              <a:defRPr sz="1200" baseline="0"/>
            </a:lvl2pPr>
            <a:lvl3pPr>
              <a:buNone/>
              <a:defRPr sz="1200" baseline="0"/>
            </a:lvl3pPr>
            <a:lvl4pPr>
              <a:buNone/>
              <a:defRPr sz="1200" baseline="0"/>
            </a:lvl4pPr>
            <a:lvl5pPr>
              <a:buNone/>
              <a:defRPr sz="1200" baseline="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buNone/>
              <a:defRPr sz="1200" baseline="0"/>
            </a:lvl2pPr>
            <a:lvl3pPr>
              <a:buNone/>
              <a:defRPr sz="1200" baseline="0"/>
            </a:lvl3pPr>
            <a:lvl4pPr>
              <a:buNone/>
              <a:defRPr sz="1200" baseline="0"/>
            </a:lvl4pPr>
            <a:lvl5pPr>
              <a:buNone/>
              <a:defRPr sz="1200" baseline="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/>
              <a:buNone/>
              <a:defRPr sz="1400" baseline="0"/>
            </a:lvl5pPr>
          </a:lstStyle>
          <a:p>
            <a:pPr lvl="0">
              <a:buNone/>
            </a:pPr>
            <a:r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/>
              <a:buNone/>
              <a:defRPr sz="1400" baseline="0"/>
            </a:lvl5pPr>
          </a:lstStyle>
          <a:p>
            <a:pPr lvl="0">
              <a:buNone/>
            </a:pPr>
            <a:r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15A77F3-CEC9-4D7A-91C1-E244BFC0274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8489EA04-5F1A-44CF-81F2-EDC8C2F76D9B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EA07FF3F-22B8-4F70-AD46-27E3FB013D7A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buNone/>
              <a:defRPr sz="3200" baseline="0">
                <a:latin typeface="Calibri"/>
                <a:ea typeface="Calibri"/>
                <a:cs typeface="Calibri"/>
              </a:defRPr>
            </a:lvl1pPr>
          </a:lstStyle>
          <a:p>
            <a:r>
              <a:t>Заголовок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>
              <a:buNone/>
            </a:pPr>
            <a:r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Изображение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A6373-3A58-4FDB-BBE7-2740AC306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Заголовок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F831C-D1ED-4463-825B-DA481E31E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1D096F-7586-4390-9E0C-08FB2817BBDE}"/>
              </a:ext>
            </a:extLst>
          </p:cNvPr>
          <p:cNvSpPr>
            <a:spLocks noGrp="1"/>
          </p:cNvSpPr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>
            <a:spLocks noGrp="1"/>
          </p:cNvSpPr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dt="0"/>
  <p:txStyles>
    <p:titleStyle>
      <a:lvl1pPr algn="l" defTabSz="457200">
        <a:spcBef>
          <a:spcPct val="0"/>
        </a:spcBef>
        <a:buNone/>
        <a:defRPr sz="3600" b="1" i="0" kern="1200" baseline="0">
          <a:solidFill>
            <a:schemeClr val="tx1"/>
          </a:solidFill>
          <a:latin typeface="Calibri"/>
          <a:ea typeface="Calibri"/>
          <a:cs typeface="Calibri"/>
        </a:defRPr>
      </a:lvl1pPr>
    </p:titleStyle>
    <p:bodyStyle>
      <a:lvl1pPr marL="0" indent="0" algn="l" defTabSz="457200">
        <a:spcBef>
          <a:spcPct val="20000"/>
        </a:spcBef>
        <a:buSzPct val="100000"/>
        <a:buFont typeface="Arial"/>
        <a:buNone/>
        <a:defRPr sz="2000" kern="1200">
          <a:solidFill>
            <a:schemeClr val="tx1"/>
          </a:solidFill>
          <a:latin typeface="Calibri"/>
          <a:ea typeface="Calibri"/>
          <a:cs typeface="Calibri"/>
        </a:defRPr>
      </a:lvl1pPr>
      <a:lvl2pPr marL="742950" indent="-28575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 defTabSz="457200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Calibri"/>
          <a:ea typeface="Calibri"/>
          <a:cs typeface="Calibri"/>
        </a:defRPr>
      </a:lvl4pPr>
      <a:lvl5pPr marL="1828800" indent="0" algn="l" defTabSz="457200">
        <a:spcBef>
          <a:spcPct val="20000"/>
        </a:spcBef>
        <a:buFont typeface="Arial"/>
        <a:buNone/>
        <a:defRPr sz="16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Calibri"/>
          <a:ea typeface="Calibri"/>
          <a:cs typeface="Calibri"/>
        </a:defRPr>
      </a:lvl1pPr>
      <a:lvl2pPr marL="457200" algn="l" defTabSz="457200">
        <a:buNone/>
        <a:defRPr sz="1800" kern="1200">
          <a:solidFill>
            <a:schemeClr val="tx1"/>
          </a:solidFill>
          <a:latin typeface="Calibri"/>
          <a:ea typeface="Calibri"/>
          <a:cs typeface="Calibri"/>
        </a:defRPr>
      </a:lvl2pPr>
      <a:lvl3pPr marL="914400" algn="l" defTabSz="457200">
        <a:buNone/>
        <a:defRPr sz="18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371600" algn="l" defTabSz="457200">
        <a:buNone/>
        <a:defRPr sz="1800" kern="1200">
          <a:solidFill>
            <a:schemeClr val="tx1"/>
          </a:solidFill>
          <a:latin typeface="Calibri"/>
          <a:ea typeface="Calibri"/>
          <a:cs typeface="Calibri"/>
        </a:defRPr>
      </a:lvl4pPr>
      <a:lvl5pPr marL="1828800" algn="l" defTabSz="457200">
        <a:buNone/>
        <a:defRPr sz="18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286000" algn="l" defTabSz="457200">
        <a:buNone/>
        <a:defRPr sz="18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743200" algn="l" defTabSz="457200">
        <a:buNone/>
        <a:defRPr sz="18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200400" algn="l" defTabSz="457200">
        <a:buNone/>
        <a:defRPr sz="18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657600" algn="l" defTabSz="457200">
        <a:buNone/>
        <a:defRPr sz="1800" kern="1200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5DD642-5948-498C-8F61-CC2B434E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209800"/>
            <a:ext cx="7239000" cy="1085850"/>
          </a:xfrm>
        </p:spPr>
        <p:txBody>
          <a:bodyPr lIns="0" tIns="0" rIns="0" bIns="0">
            <a:noAutofit/>
          </a:bodyPr>
          <a:lstStyle>
            <a:defPPr algn="ctr"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Интеллектуальные</a:t>
            </a:r>
            <a:r>
              <a:rPr sz="32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материалы</a:t>
            </a:r>
            <a:endParaRPr sz="4400" dirty="0">
              <a:solidFill>
                <a:schemeClr val="bg1"/>
              </a:solidFill>
            </a:endParaRPr>
          </a:p>
          <a:p>
            <a:pPr algn="ctr">
              <a:buNone/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 </a:t>
            </a:r>
            <a:r>
              <a:rPr sz="32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машиностроительных</a:t>
            </a:r>
            <a:r>
              <a:rPr sz="32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узлах</a:t>
            </a:r>
            <a:endParaRPr sz="4400" dirty="0">
              <a:solidFill>
                <a:schemeClr val="bg1"/>
              </a:solidFill>
            </a:endParaRPr>
          </a:p>
        </p:txBody>
      </p:sp>
      <p:sp>
        <p:nvSpPr>
          <p:cNvPr id="6" name="Перспективы применения&#10;Характеристики, управл">
            <a:extLst>
              <a:ext uri="{FF2B5EF4-FFF2-40B4-BE49-F238E27FC236}">
                <a16:creationId xmlns:a16="http://schemas.microsoft.com/office/drawing/2014/main" id="{C386B813-8B5E-499A-AFFD-599F40414E1F}"/>
              </a:ext>
            </a:extLst>
          </p:cNvPr>
          <p:cNvSpPr>
            <a:spLocks noGrp="1"/>
          </p:cNvSpPr>
          <p:nvPr/>
        </p:nvSpPr>
        <p:spPr>
          <a:xfrm>
            <a:off x="1238250" y="3486150"/>
            <a:ext cx="666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Перспективы применения</a:t>
            </a:r>
          </a:p>
          <a:p>
            <a:pPr algn="ctr"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Характеристики, управление, эффективность</a:t>
            </a:r>
          </a:p>
        </p:txBody>
      </p:sp>
      <p:sp>
        <p:nvSpPr>
          <p:cNvPr id="7" name="Сухов Н. М.">
            <a:extLst>
              <a:ext uri="{FF2B5EF4-FFF2-40B4-BE49-F238E27FC236}">
                <a16:creationId xmlns:a16="http://schemas.microsoft.com/office/drawing/2014/main" id="{29C40271-1D54-4FC9-BC8C-47446C3E4737}"/>
              </a:ext>
            </a:extLst>
          </p:cNvPr>
          <p:cNvSpPr>
            <a:spLocks noGrp="1"/>
          </p:cNvSpPr>
          <p:nvPr/>
        </p:nvSpPr>
        <p:spPr>
          <a:xfrm>
            <a:off x="7301450" y="4455121"/>
            <a:ext cx="1563676" cy="27880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Сухов Н. М.</a:t>
            </a:r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4B5BD7F8-16D6-4105-A28C-4378C6796FFC}"/>
              </a:ext>
            </a:extLst>
          </p:cNvPr>
          <p:cNvSpPr>
            <a:spLocks noGrp="1"/>
          </p:cNvSpPr>
          <p:nvPr/>
        </p:nvSpPr>
        <p:spPr>
          <a:xfrm>
            <a:off x="8334375" y="4829175"/>
            <a:ext cx="35242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52A620-D0CE-461D-8F69-CBC49118B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C8298BB4-F03D-4A8D-B3D7-2F9531CB494C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Обзор интеллектуальных материалов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5AC861-9B59-497F-B4CA-489BD944D95F}"/>
              </a:ext>
            </a:extLst>
          </p:cNvPr>
          <p:cNvGraphicFramePr/>
          <p:nvPr/>
        </p:nvGraphicFramePr>
        <p:xfrm>
          <a:off x="457200" y="1047750"/>
          <a:ext cx="8229600" cy="3333750"/>
        </p:xfrm>
        <a:graphic>
          <a:graphicData uri="http://schemas.openxmlformats.org/drawingml/2006/table">
            <a:tbl>
              <a:tblPr firstRow="1"/>
              <a:tblGrid>
                <a:gridCol w="264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Группа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>
                      <a:solidFill>
                        <a:srgbClr val="D3D3D3"/>
                      </a:solidFill>
                      <a:prstDash val="soli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Воздействие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>
                      <a:solidFill>
                        <a:srgbClr val="D3D3D3"/>
                      </a:solidFill>
                      <a:prstDash val="soli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Отклик и применение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>
                      <a:solidFill>
                        <a:srgbClr val="D3D3D3"/>
                      </a:solidFill>
                      <a:prstDash val="soli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0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Память формы</a:t>
                      </a:r>
                    </a:p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(сплавы, полимеры)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Температура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Восстановление формы</a:t>
                      </a:r>
                    </a:p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Муфты, термоприводы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Пьезоэлектрики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Электрическое</a:t>
                      </a:r>
                    </a:p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поле или нагрузка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Деформация и сигнал</a:t>
                      </a:r>
                    </a:p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Датчики, виброгашение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Магнитострикционные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Магнитное поле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Деформация</a:t>
                      </a:r>
                    </a:p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Точные приводы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Магнито- и</a:t>
                      </a:r>
                    </a:p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электрореологические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Магнитное или</a:t>
                      </a:r>
                    </a:p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электрическое поле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Сопротивление сдвигу</a:t>
                      </a:r>
                    </a:p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Демпферы, муфты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Электроактивные</a:t>
                      </a:r>
                    </a:p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полимеры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Электрическое</a:t>
                      </a:r>
                    </a:p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воздействие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Деформация</a:t>
                      </a:r>
                    </a:p>
                    <a:p>
                      <a:r>
                        <a:rPr sz="165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Гибкие приводы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Выборочный обзор [6, 7]. Группы могут пересек">
            <a:extLst>
              <a:ext uri="{FF2B5EF4-FFF2-40B4-BE49-F238E27FC236}">
                <a16:creationId xmlns:a16="http://schemas.microsoft.com/office/drawing/2014/main" id="{C2C2FE82-CF5A-4E88-84E6-5390DFCEB195}"/>
              </a:ext>
            </a:extLst>
          </p:cNvPr>
          <p:cNvSpPr>
            <a:spLocks noGrp="1"/>
          </p:cNvSpPr>
          <p:nvPr/>
        </p:nvSpPr>
        <p:spPr>
          <a:xfrm>
            <a:off x="457200" y="4543425"/>
            <a:ext cx="822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Выборочный обзор [6, 7]. Группы могут пересекаться, например у пьезополимеров.</a:t>
            </a:r>
          </a:p>
        </p:txBody>
      </p:sp>
      <p:sp>
        <p:nvSpPr>
          <p:cNvPr id="5" name="Сухов Н. М.">
            <a:extLst>
              <a:ext uri="{FF2B5EF4-FFF2-40B4-BE49-F238E27FC236}">
                <a16:creationId xmlns:a16="http://schemas.microsoft.com/office/drawing/2014/main" id="{326D3182-420C-4AB6-83D4-772081BF5E84}"/>
              </a:ext>
            </a:extLst>
          </p:cNvPr>
          <p:cNvSpPr>
            <a:spLocks noGrp="1"/>
          </p:cNvSpPr>
          <p:nvPr/>
        </p:nvSpPr>
        <p:spPr>
          <a:xfrm>
            <a:off x="457200" y="4829175"/>
            <a:ext cx="28575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Сухов Н. М.</a:t>
            </a:r>
          </a:p>
        </p:txBody>
      </p:sp>
      <p:sp>
        <p:nvSpPr>
          <p:cNvPr id="6" name="2">
            <a:extLst>
              <a:ext uri="{FF2B5EF4-FFF2-40B4-BE49-F238E27FC236}">
                <a16:creationId xmlns:a16="http://schemas.microsoft.com/office/drawing/2014/main" id="{F7688D4D-2678-4B86-AFCC-3454F1D000CD}"/>
              </a:ext>
            </a:extLst>
          </p:cNvPr>
          <p:cNvSpPr>
            <a:spLocks noGrp="1"/>
          </p:cNvSpPr>
          <p:nvPr/>
        </p:nvSpPr>
        <p:spPr>
          <a:xfrm>
            <a:off x="8334375" y="4829175"/>
            <a:ext cx="35242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4EC736-B9AF-4F0A-97BE-ECA584B23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9EEF7B9B-2E98-44E2-B828-D20EA7296C92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Две группы для подробного разбора</a:t>
            </a:r>
          </a:p>
        </p:txBody>
      </p:sp>
      <p:sp>
        <p:nvSpPr>
          <p:cNvPr id="3" name="NiTi — сплав с памятью формы.&#10;PZT — семейство">
            <a:extLst>
              <a:ext uri="{FF2B5EF4-FFF2-40B4-BE49-F238E27FC236}">
                <a16:creationId xmlns:a16="http://schemas.microsoft.com/office/drawing/2014/main" id="{839DA38F-55AC-4651-852F-102B7670F2E0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8191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NiTi — сплав с памятью формы.</a:t>
            </a:r>
          </a:p>
          <a:p>
            <a: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PZT — семейство пьезокерамик.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4FA366-F15A-4E60-8069-3BD7DFA23668}"/>
              </a:ext>
            </a:extLst>
          </p:cNvPr>
          <p:cNvGraphicFramePr/>
          <p:nvPr/>
        </p:nvGraphicFramePr>
        <p:xfrm>
          <a:off x="457200" y="1828800"/>
          <a:ext cx="8229600" cy="238125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Критерий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>
                      <a:solidFill>
                        <a:srgbClr val="D3D3D3"/>
                      </a:solidFill>
                      <a:prstDash val="soli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Память формы: NiTi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>
                      <a:solidFill>
                        <a:srgbClr val="D3D3D3"/>
                      </a:solidFill>
                      <a:prstDash val="soli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Пьезоэффект: PZT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>
                      <a:solidFill>
                        <a:srgbClr val="D3D3D3"/>
                      </a:solidFill>
                      <a:prstDash val="soli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0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Воздействие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Температура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Электрическое напряжение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Движение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Фазовое превращение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Малая упругая деформация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Применение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Терморегулируемая муфта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Активное виброгашение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Ограничение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Охлаждение и гистерезис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Ход и условия нагружения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Эти группы заданы темой: муфта и виброгашение">
            <a:extLst>
              <a:ext uri="{FF2B5EF4-FFF2-40B4-BE49-F238E27FC236}">
                <a16:creationId xmlns:a16="http://schemas.microsoft.com/office/drawing/2014/main" id="{7791DFA5-68E1-4482-A4E3-FBF9008A37B0}"/>
              </a:ext>
            </a:extLst>
          </p:cNvPr>
          <p:cNvSpPr>
            <a:spLocks noGrp="1"/>
          </p:cNvSpPr>
          <p:nvPr/>
        </p:nvSpPr>
        <p:spPr>
          <a:xfrm>
            <a:off x="457200" y="4381500"/>
            <a:ext cx="8229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8200FF"/>
                </a:solidFill>
                <a:latin typeface="Calibri"/>
                <a:ea typeface="Calibri"/>
                <a:cs typeface="Calibri"/>
              </a:rPr>
              <a:t>Эти группы заданы темой: муфта и виброгашение [1, 3]</a:t>
            </a:r>
          </a:p>
        </p:txBody>
      </p:sp>
      <p:sp>
        <p:nvSpPr>
          <p:cNvPr id="6" name="Сухов Н. М.">
            <a:extLst>
              <a:ext uri="{FF2B5EF4-FFF2-40B4-BE49-F238E27FC236}">
                <a16:creationId xmlns:a16="http://schemas.microsoft.com/office/drawing/2014/main" id="{2DFC21F5-F640-42AF-9220-09480BC9B909}"/>
              </a:ext>
            </a:extLst>
          </p:cNvPr>
          <p:cNvSpPr>
            <a:spLocks noGrp="1"/>
          </p:cNvSpPr>
          <p:nvPr/>
        </p:nvSpPr>
        <p:spPr>
          <a:xfrm>
            <a:off x="457200" y="4829175"/>
            <a:ext cx="28575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Сухов Н. М.</a:t>
            </a:r>
          </a:p>
        </p:txBody>
      </p:sp>
      <p:sp>
        <p:nvSpPr>
          <p:cNvPr id="7" name="3">
            <a:extLst>
              <a:ext uri="{FF2B5EF4-FFF2-40B4-BE49-F238E27FC236}">
                <a16:creationId xmlns:a16="http://schemas.microsoft.com/office/drawing/2014/main" id="{DED7A850-1BCF-4677-AB7A-9424BF2149AA}"/>
              </a:ext>
            </a:extLst>
          </p:cNvPr>
          <p:cNvSpPr>
            <a:spLocks noGrp="1"/>
          </p:cNvSpPr>
          <p:nvPr/>
        </p:nvSpPr>
        <p:spPr>
          <a:xfrm>
            <a:off x="8334375" y="4829175"/>
            <a:ext cx="35242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 dirty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EB7FD19-5C1C-4493-AB3F-B18C0E64E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117E0671-4F6B-4E0B-B3A3-B42932117487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Муфта вентилятора с памятью формы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F50A82-B9D7-4FBB-8222-15DE1B11D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" y="1122337"/>
            <a:ext cx="4572000" cy="3127427"/>
          </a:xfrm>
          <a:prstGeom prst="rect">
            <a:avLst/>
          </a:prstGeom>
        </p:spPr>
      </p:pic>
      <p:sp>
        <p:nvSpPr>
          <p:cNvPr id="4" name="Нагрев NiTi-пружин усиливает прижим фрикционн">
            <a:extLst>
              <a:ext uri="{FF2B5EF4-FFF2-40B4-BE49-F238E27FC236}">
                <a16:creationId xmlns:a16="http://schemas.microsoft.com/office/drawing/2014/main" id="{D2705975-5E5F-4CCD-A99C-BCE75C02C00F}"/>
              </a:ext>
            </a:extLst>
          </p:cNvPr>
          <p:cNvSpPr>
            <a:spLocks noGrp="1"/>
          </p:cNvSpPr>
          <p:nvPr/>
        </p:nvSpPr>
        <p:spPr>
          <a:xfrm>
            <a:off x="5381625" y="1181100"/>
            <a:ext cx="3286125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Нагрев NiTi-пружин усиливает прижим фрикционных элементов</a:t>
            </a:r>
          </a:p>
        </p:txBody>
      </p:sp>
      <p:sp>
        <p:nvSpPr>
          <p:cNvPr id="5" name="Охлаждение уменьшает передаваемый момент">
            <a:extLst>
              <a:ext uri="{FF2B5EF4-FFF2-40B4-BE49-F238E27FC236}">
                <a16:creationId xmlns:a16="http://schemas.microsoft.com/office/drawing/2014/main" id="{0ECDD330-1C77-44E9-84E2-D43070B8EEFE}"/>
              </a:ext>
            </a:extLst>
          </p:cNvPr>
          <p:cNvSpPr>
            <a:spLocks noGrp="1"/>
          </p:cNvSpPr>
          <p:nvPr/>
        </p:nvSpPr>
        <p:spPr>
          <a:xfrm>
            <a:off x="5381625" y="2314575"/>
            <a:ext cx="328612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Охлаждение уменьшает передаваемый момент</a:t>
            </a:r>
          </a:p>
        </p:txBody>
      </p:sp>
      <p:sp>
        <p:nvSpPr>
          <p:cNvPr id="6" name="19,04 Н·м при 100 °C&#10;Расчёт для восьми пружин">
            <a:extLst>
              <a:ext uri="{FF2B5EF4-FFF2-40B4-BE49-F238E27FC236}">
                <a16:creationId xmlns:a16="http://schemas.microsoft.com/office/drawing/2014/main" id="{0170451F-CB0C-41B3-BC50-BC7D0F453D1F}"/>
              </a:ext>
            </a:extLst>
          </p:cNvPr>
          <p:cNvSpPr>
            <a:spLocks noGrp="1"/>
          </p:cNvSpPr>
          <p:nvPr/>
        </p:nvSpPr>
        <p:spPr>
          <a:xfrm>
            <a:off x="5381625" y="3257550"/>
            <a:ext cx="3286125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00" b="0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8200FF"/>
                </a:solidFill>
                <a:latin typeface="Calibri"/>
                <a:ea typeface="Calibri"/>
                <a:cs typeface="Calibri"/>
              </a:rPr>
              <a:t>19,04 Н·м при 100 °C</a:t>
            </a:r>
          </a:p>
          <a:p>
            <a:pPr algn="l">
              <a:defRPr sz="1800" b="0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8200FF"/>
                </a:solidFill>
                <a:latin typeface="Calibri"/>
                <a:ea typeface="Calibri"/>
                <a:cs typeface="Calibri"/>
              </a:rPr>
              <a:t>Расчёт для восьми пружин, не испытание готовой муфты [2]</a:t>
            </a:r>
          </a:p>
        </p:txBody>
      </p:sp>
      <p:sp>
        <p:nvSpPr>
          <p:cNvPr id="7" name="Подпись рисунка">
            <a:extLst>
              <a:ext uri="{FF2B5EF4-FFF2-40B4-BE49-F238E27FC236}">
                <a16:creationId xmlns:a16="http://schemas.microsoft.com/office/drawing/2014/main" id="{EFA9EFCC-B309-44B1-B639-D58C60BFAA94}"/>
              </a:ext>
            </a:extLst>
          </p:cNvPr>
          <p:cNvSpPr>
            <a:spLocks noGrp="1"/>
          </p:cNvSpPr>
          <p:nvPr/>
        </p:nvSpPr>
        <p:spPr>
          <a:xfrm>
            <a:off x="457200" y="4381500"/>
            <a:ext cx="822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Рисунок 1 — Муфта с пружинами из сплава с памятью формы [2]</a:t>
            </a:r>
          </a:p>
        </p:txBody>
      </p:sp>
      <p:sp>
        <p:nvSpPr>
          <p:cNvPr id="8" name="Сухов Н. М.">
            <a:extLst>
              <a:ext uri="{FF2B5EF4-FFF2-40B4-BE49-F238E27FC236}">
                <a16:creationId xmlns:a16="http://schemas.microsoft.com/office/drawing/2014/main" id="{D7509A22-4B3A-495C-8B41-5DA947D3A554}"/>
              </a:ext>
            </a:extLst>
          </p:cNvPr>
          <p:cNvSpPr>
            <a:spLocks noGrp="1"/>
          </p:cNvSpPr>
          <p:nvPr/>
        </p:nvSpPr>
        <p:spPr>
          <a:xfrm>
            <a:off x="457200" y="4829175"/>
            <a:ext cx="28575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Сухов Н. М.</a:t>
            </a:r>
          </a:p>
        </p:txBody>
      </p:sp>
      <p:sp>
        <p:nvSpPr>
          <p:cNvPr id="9" name="4">
            <a:extLst>
              <a:ext uri="{FF2B5EF4-FFF2-40B4-BE49-F238E27FC236}">
                <a16:creationId xmlns:a16="http://schemas.microsoft.com/office/drawing/2014/main" id="{6F7BCE97-4048-4C23-B912-04F25856A508}"/>
              </a:ext>
            </a:extLst>
          </p:cNvPr>
          <p:cNvSpPr>
            <a:spLocks noGrp="1"/>
          </p:cNvSpPr>
          <p:nvPr/>
        </p:nvSpPr>
        <p:spPr>
          <a:xfrm>
            <a:off x="8334375" y="4829175"/>
            <a:ext cx="35242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D934186-D020-462C-AC9A-864D4ED7C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8C73FA85-5C3C-4E0A-A576-0F8B490590DB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Пьезоэлектрическое виброгашение</a:t>
            </a:r>
          </a:p>
        </p:txBody>
      </p:sp>
      <p:sp>
        <p:nvSpPr>
          <p:cNvPr id="3" name="Fₐ = −g·ẋ">
            <a:extLst>
              <a:ext uri="{FF2B5EF4-FFF2-40B4-BE49-F238E27FC236}">
                <a16:creationId xmlns:a16="http://schemas.microsoft.com/office/drawing/2014/main" id="{F69CCB27-BBCA-40C8-B51C-F75A72499026}"/>
              </a:ext>
            </a:extLst>
          </p:cNvPr>
          <p:cNvSpPr>
            <a:spLocks noGrp="1"/>
          </p:cNvSpPr>
          <p:nvPr/>
        </p:nvSpPr>
        <p:spPr>
          <a:xfrm>
            <a:off x="457200" y="1143000"/>
            <a:ext cx="36195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32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2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2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2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2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2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2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2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2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2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8200FF"/>
                </a:solidFill>
                <a:latin typeface="Calibri"/>
                <a:ea typeface="Calibri"/>
                <a:cs typeface="Calibri"/>
              </a:rPr>
              <a:t>Fₐ = −g·ẋ</a:t>
            </a:r>
          </a:p>
        </p:txBody>
      </p:sp>
      <p:sp>
        <p:nvSpPr>
          <p:cNvPr id="4" name="Акселерометр, фильтр&#10;и интегратор дают оценку">
            <a:extLst>
              <a:ext uri="{FF2B5EF4-FFF2-40B4-BE49-F238E27FC236}">
                <a16:creationId xmlns:a16="http://schemas.microsoft.com/office/drawing/2014/main" id="{A9052726-B00C-4B59-A127-C18C2DC6A86A}"/>
              </a:ext>
            </a:extLst>
          </p:cNvPr>
          <p:cNvSpPr>
            <a:spLocks noGrp="1"/>
          </p:cNvSpPr>
          <p:nvPr/>
        </p:nvSpPr>
        <p:spPr>
          <a:xfrm>
            <a:off x="457200" y="2009775"/>
            <a:ext cx="3781425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Акселерометр, фильтр</a:t>
            </a:r>
          </a:p>
          <a:p>
            <a: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и интегратор дают оценку</a:t>
            </a:r>
          </a:p>
          <a:p>
            <a: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скорости ẋ</a:t>
            </a:r>
          </a:p>
        </p:txBody>
      </p:sp>
      <p:sp>
        <p:nvSpPr>
          <p:cNvPr id="5" name="Регулятор и усилитель&#10;задают напряжение PZT">
            <a:extLst>
              <a:ext uri="{FF2B5EF4-FFF2-40B4-BE49-F238E27FC236}">
                <a16:creationId xmlns:a16="http://schemas.microsoft.com/office/drawing/2014/main" id="{6239DB19-5120-47E2-ADFA-FA35BBAF1C2A}"/>
              </a:ext>
            </a:extLst>
          </p:cNvPr>
          <p:cNvSpPr>
            <a:spLocks noGrp="1"/>
          </p:cNvSpPr>
          <p:nvPr/>
        </p:nvSpPr>
        <p:spPr>
          <a:xfrm>
            <a:off x="457200" y="3238500"/>
            <a:ext cx="37814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Регулятор и усилитель</a:t>
            </a:r>
          </a:p>
          <a:p>
            <a:pPr algn="l">
              <a:defRPr sz="19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задают напряжение PZT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B15E35-51E5-45B8-90EA-72F2C2FF5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00550" y="1407422"/>
            <a:ext cx="4286250" cy="1938130"/>
          </a:xfrm>
          <a:prstGeom prst="rect">
            <a:avLst/>
          </a:prstGeom>
        </p:spPr>
      </p:pic>
      <p:sp>
        <p:nvSpPr>
          <p:cNvPr id="7" name="Подпись рисунка">
            <a:extLst>
              <a:ext uri="{FF2B5EF4-FFF2-40B4-BE49-F238E27FC236}">
                <a16:creationId xmlns:a16="http://schemas.microsoft.com/office/drawing/2014/main" id="{CF333AE2-692D-4D28-A4E0-5D2DBFFDD3E6}"/>
              </a:ext>
            </a:extLst>
          </p:cNvPr>
          <p:cNvSpPr>
            <a:spLocks noGrp="1"/>
          </p:cNvSpPr>
          <p:nvPr/>
        </p:nvSpPr>
        <p:spPr>
          <a:xfrm>
            <a:off x="4400550" y="3638550"/>
            <a:ext cx="428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Рисунок 2 — Пьезоактивный модуль</a:t>
            </a:r>
          </a:p>
          <a:p>
            <a: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шпинделя, конструкция из работы [3]</a:t>
            </a:r>
          </a:p>
        </p:txBody>
      </p:sp>
      <p:sp>
        <p:nvSpPr>
          <p:cNvPr id="8" name="Сила против скорости добавляет демпфирование">
            <a:extLst>
              <a:ext uri="{FF2B5EF4-FFF2-40B4-BE49-F238E27FC236}">
                <a16:creationId xmlns:a16="http://schemas.microsoft.com/office/drawing/2014/main" id="{1C50F2C0-539E-45A5-8D16-F97765738F60}"/>
              </a:ext>
            </a:extLst>
          </p:cNvPr>
          <p:cNvSpPr>
            <a:spLocks noGrp="1"/>
          </p:cNvSpPr>
          <p:nvPr/>
        </p:nvSpPr>
        <p:spPr>
          <a:xfrm>
            <a:off x="457200" y="4381500"/>
            <a:ext cx="8229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0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8200FF"/>
                </a:solidFill>
                <a:latin typeface="Calibri"/>
                <a:ea typeface="Calibri"/>
                <a:cs typeface="Calibri"/>
              </a:rPr>
              <a:t>Сила против скорости добавляет демпфирование</a:t>
            </a:r>
          </a:p>
        </p:txBody>
      </p:sp>
      <p:sp>
        <p:nvSpPr>
          <p:cNvPr id="9" name="Сухов Н. М.">
            <a:extLst>
              <a:ext uri="{FF2B5EF4-FFF2-40B4-BE49-F238E27FC236}">
                <a16:creationId xmlns:a16="http://schemas.microsoft.com/office/drawing/2014/main" id="{5E4A6722-A125-43DD-8ADE-A67C45CED0AF}"/>
              </a:ext>
            </a:extLst>
          </p:cNvPr>
          <p:cNvSpPr>
            <a:spLocks noGrp="1"/>
          </p:cNvSpPr>
          <p:nvPr/>
        </p:nvSpPr>
        <p:spPr>
          <a:xfrm>
            <a:off x="457200" y="4829175"/>
            <a:ext cx="28575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Сухов Н. М.</a:t>
            </a:r>
          </a:p>
        </p:txBody>
      </p:sp>
      <p:sp>
        <p:nvSpPr>
          <p:cNvPr id="10" name="5">
            <a:extLst>
              <a:ext uri="{FF2B5EF4-FFF2-40B4-BE49-F238E27FC236}">
                <a16:creationId xmlns:a16="http://schemas.microsoft.com/office/drawing/2014/main" id="{71B69BE8-18DB-48EC-8509-3B37232E58B7}"/>
              </a:ext>
            </a:extLst>
          </p:cNvPr>
          <p:cNvSpPr>
            <a:spLocks noGrp="1"/>
          </p:cNvSpPr>
          <p:nvPr/>
        </p:nvSpPr>
        <p:spPr>
          <a:xfrm>
            <a:off x="8334375" y="4829175"/>
            <a:ext cx="35242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7094E46-42EC-456D-8A08-66C0C2D19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1D523BE1-17B7-4D9F-BF55-1E981F154B81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Расчётная модель узла</a:t>
            </a:r>
          </a:p>
        </p:txBody>
      </p:sp>
      <p:sp>
        <p:nvSpPr>
          <p:cNvPr id="3" name="mẍ + cẋ + kx = F₀ sin(ωt) + Fₐ">
            <a:extLst>
              <a:ext uri="{FF2B5EF4-FFF2-40B4-BE49-F238E27FC236}">
                <a16:creationId xmlns:a16="http://schemas.microsoft.com/office/drawing/2014/main" id="{6875459B-9F72-4E16-A795-15B2E5D2EDCE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82296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55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55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55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55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55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55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55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55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55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55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mẍ + cẋ + kx = F₀ sin(ωt) + Fₐ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94FED6-192B-4F35-B46C-863C2CF73F17}"/>
              </a:ext>
            </a:extLst>
          </p:cNvPr>
          <p:cNvGraphicFramePr/>
          <p:nvPr/>
        </p:nvGraphicFramePr>
        <p:xfrm>
          <a:off x="457200" y="1781175"/>
          <a:ext cx="4333875" cy="2143125"/>
        </p:xfrm>
        <a:graphic>
          <a:graphicData uri="http://schemas.openxmlformats.org/drawingml/2006/table">
            <a:tbl>
              <a:tblPr firstRow="1"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Исходная величина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>
                      <a:solidFill>
                        <a:srgbClr val="D3D3D3"/>
                      </a:solidFill>
                      <a:prstDash val="soli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Значение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>
                      <a:solidFill>
                        <a:srgbClr val="D3D3D3"/>
                      </a:solidFill>
                      <a:prstDash val="soli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0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Масса m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5 кг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Собственная частота fₙ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100 Гц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Коэффициент ζ₀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0,02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Амплитуда силы F₀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10 Н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ωₙ = 2πfₙ = 628,3 с⁻¹&#10;&#10;k = mωₙ² = 1,974 МН/м&#10;">
            <a:extLst>
              <a:ext uri="{FF2B5EF4-FFF2-40B4-BE49-F238E27FC236}">
                <a16:creationId xmlns:a16="http://schemas.microsoft.com/office/drawing/2014/main" id="{651C157B-0F64-4B96-A663-C4D8B58EF079}"/>
              </a:ext>
            </a:extLst>
          </p:cNvPr>
          <p:cNvSpPr>
            <a:spLocks noGrp="1"/>
          </p:cNvSpPr>
          <p:nvPr/>
        </p:nvSpPr>
        <p:spPr>
          <a:xfrm>
            <a:off x="5143500" y="1866900"/>
            <a:ext cx="3543300" cy="214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ωₙ = 2πfₙ = 628,3 с⁻¹</a:t>
            </a:r>
          </a:p>
          <a:p>
            <a:endParaRPr sz="1800" b="0">
              <a:solidFill>
                <a:srgbClr val="181818"/>
              </a:solidFill>
              <a:latin typeface="Calibri"/>
              <a:ea typeface="Calibri"/>
              <a:cs typeface="Calibri"/>
            </a:endParaRPr>
          </a:p>
          <a:p>
            <a: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k = mωₙ² = 1,974 МН/м</a:t>
            </a:r>
          </a:p>
          <a:p>
            <a:endParaRPr sz="1800" b="0">
              <a:solidFill>
                <a:srgbClr val="181818"/>
              </a:solidFill>
              <a:latin typeface="Calibri"/>
              <a:ea typeface="Calibri"/>
              <a:cs typeface="Calibri"/>
            </a:endParaRPr>
          </a:p>
          <a:p>
            <a: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c = 2ζ₀mωₙ = 125,7 Н·с/м</a:t>
            </a:r>
          </a:p>
        </p:txBody>
      </p:sp>
      <p:sp>
        <p:nvSpPr>
          <p:cNvPr id="6" name="Гармоническая сила, неподвижное основание, од">
            <a:extLst>
              <a:ext uri="{FF2B5EF4-FFF2-40B4-BE49-F238E27FC236}">
                <a16:creationId xmlns:a16="http://schemas.microsoft.com/office/drawing/2014/main" id="{D850D947-2AC6-4E9D-BD42-9AC59D4FC7C3}"/>
              </a:ext>
            </a:extLst>
          </p:cNvPr>
          <p:cNvSpPr>
            <a:spLocks noGrp="1"/>
          </p:cNvSpPr>
          <p:nvPr/>
        </p:nvSpPr>
        <p:spPr>
          <a:xfrm>
            <a:off x="457200" y="4238625"/>
            <a:ext cx="82296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Гармоническая сила, неподвижное основание, одна мода.</a:t>
            </a:r>
          </a:p>
          <a:p>
            <a: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Жёсткость пьезоветви включена в k. Исходные данные заданы для примера.</a:t>
            </a:r>
          </a:p>
        </p:txBody>
      </p:sp>
      <p:sp>
        <p:nvSpPr>
          <p:cNvPr id="7" name="Сухов Н. М.">
            <a:extLst>
              <a:ext uri="{FF2B5EF4-FFF2-40B4-BE49-F238E27FC236}">
                <a16:creationId xmlns:a16="http://schemas.microsoft.com/office/drawing/2014/main" id="{81FB4381-FFB5-475C-8D8A-7B7DEB8FCA33}"/>
              </a:ext>
            </a:extLst>
          </p:cNvPr>
          <p:cNvSpPr>
            <a:spLocks noGrp="1"/>
          </p:cNvSpPr>
          <p:nvPr/>
        </p:nvSpPr>
        <p:spPr>
          <a:xfrm>
            <a:off x="457200" y="4829175"/>
            <a:ext cx="28575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Сухов Н. М.</a:t>
            </a:r>
          </a:p>
        </p:txBody>
      </p:sp>
      <p:sp>
        <p:nvSpPr>
          <p:cNvPr id="8" name="6">
            <a:extLst>
              <a:ext uri="{FF2B5EF4-FFF2-40B4-BE49-F238E27FC236}">
                <a16:creationId xmlns:a16="http://schemas.microsoft.com/office/drawing/2014/main" id="{D71578CF-8F26-4F20-ADD5-43C95471E1B8}"/>
              </a:ext>
            </a:extLst>
          </p:cNvPr>
          <p:cNvSpPr>
            <a:spLocks noGrp="1"/>
          </p:cNvSpPr>
          <p:nvPr/>
        </p:nvSpPr>
        <p:spPr>
          <a:xfrm>
            <a:off x="8334375" y="4829175"/>
            <a:ext cx="35242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3A3E072-5072-4386-B47B-50DCE85F6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128BA90B-983A-4A20-8C61-1A3B8A6ED7E4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Расчёт демпфирования</a:t>
            </a:r>
          </a:p>
        </p:txBody>
      </p:sp>
      <p:sp>
        <p:nvSpPr>
          <p:cNvPr id="3" name="Цель: ζ₁ = 0,10">
            <a:extLst>
              <a:ext uri="{FF2B5EF4-FFF2-40B4-BE49-F238E27FC236}">
                <a16:creationId xmlns:a16="http://schemas.microsoft.com/office/drawing/2014/main" id="{C6F44F91-4FA2-4D1F-A56A-68DFE76D7E21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82296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8200FF"/>
                </a:solidFill>
                <a:latin typeface="Calibri"/>
                <a:ea typeface="Calibri"/>
                <a:cs typeface="Calibri"/>
              </a:rPr>
              <a:t>Цель: ζ₁ = 0,10</a:t>
            </a:r>
          </a:p>
        </p:txBody>
      </p:sp>
      <p:sp>
        <p:nvSpPr>
          <p:cNvPr id="4" name="g = 2mωₙ(ζ₁ − ζ₀) = 502,7 Н·с/м">
            <a:extLst>
              <a:ext uri="{FF2B5EF4-FFF2-40B4-BE49-F238E27FC236}">
                <a16:creationId xmlns:a16="http://schemas.microsoft.com/office/drawing/2014/main" id="{94404A2B-88C6-435A-97F2-87BD1189B73C}"/>
              </a:ext>
            </a:extLst>
          </p:cNvPr>
          <p:cNvSpPr>
            <a:spLocks noGrp="1"/>
          </p:cNvSpPr>
          <p:nvPr/>
        </p:nvSpPr>
        <p:spPr>
          <a:xfrm>
            <a:off x="457200" y="1657350"/>
            <a:ext cx="8229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2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g = 2mωₙ(ζ₁ − ζ₀) = 502,7 Н·с/м</a:t>
            </a:r>
          </a:p>
        </p:txBody>
      </p:sp>
      <p:sp>
        <p:nvSpPr>
          <p:cNvPr id="5" name="На резонансе X = F₀ / (2ζk)">
            <a:extLst>
              <a:ext uri="{FF2B5EF4-FFF2-40B4-BE49-F238E27FC236}">
                <a16:creationId xmlns:a16="http://schemas.microsoft.com/office/drawing/2014/main" id="{989604A8-0124-4975-B82D-CC22FBF2F1A6}"/>
              </a:ext>
            </a:extLst>
          </p:cNvPr>
          <p:cNvSpPr>
            <a:spLocks noGrp="1"/>
          </p:cNvSpPr>
          <p:nvPr/>
        </p:nvSpPr>
        <p:spPr>
          <a:xfrm>
            <a:off x="457200" y="2200275"/>
            <a:ext cx="8229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1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На резонансе X = F₀ / (2ζk)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09FC48-A858-4337-B338-1D9D896D2613}"/>
              </a:ext>
            </a:extLst>
          </p:cNvPr>
          <p:cNvGraphicFramePr/>
          <p:nvPr/>
        </p:nvGraphicFramePr>
        <p:xfrm>
          <a:off x="457200" y="2790825"/>
          <a:ext cx="8229600" cy="1257300"/>
        </p:xfrm>
        <a:graphic>
          <a:graphicData uri="http://schemas.openxmlformats.org/drawingml/2006/table">
            <a:tbl>
              <a:tblPr firstRow="1"/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Режим при 100 Гц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>
                      <a:solidFill>
                        <a:srgbClr val="D3D3D3"/>
                      </a:solidFill>
                      <a:prstDash val="soli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ζ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>
                      <a:solidFill>
                        <a:srgbClr val="D3D3D3"/>
                      </a:solidFill>
                      <a:prstDash val="soli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Амплитуда X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>
                      <a:solidFill>
                        <a:srgbClr val="D3D3D3"/>
                      </a:solidFill>
                      <a:prstDash val="soli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0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Без управления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0,02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126,7 мкм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С управлением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0,10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25,3 мкм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Fₐ,амп = gωₙX₁ = 8,0 Н">
            <a:extLst>
              <a:ext uri="{FF2B5EF4-FFF2-40B4-BE49-F238E27FC236}">
                <a16:creationId xmlns:a16="http://schemas.microsoft.com/office/drawing/2014/main" id="{C0A4A9DB-D3A4-4C96-837B-34C064629475}"/>
              </a:ext>
            </a:extLst>
          </p:cNvPr>
          <p:cNvSpPr>
            <a:spLocks noGrp="1"/>
          </p:cNvSpPr>
          <p:nvPr/>
        </p:nvSpPr>
        <p:spPr>
          <a:xfrm>
            <a:off x="457200" y="4295775"/>
            <a:ext cx="822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250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8200FF"/>
                </a:solidFill>
                <a:latin typeface="Calibri"/>
                <a:ea typeface="Calibri"/>
                <a:cs typeface="Calibri"/>
              </a:rPr>
              <a:t>Fₐ,амп = gωₙX₁ = 8,0 Н</a:t>
            </a:r>
          </a:p>
        </p:txBody>
      </p:sp>
      <p:sp>
        <p:nvSpPr>
          <p:cNvPr id="8" name="Сухов Н. М.">
            <a:extLst>
              <a:ext uri="{FF2B5EF4-FFF2-40B4-BE49-F238E27FC236}">
                <a16:creationId xmlns:a16="http://schemas.microsoft.com/office/drawing/2014/main" id="{4FB390E2-DB27-4242-BE70-EAD6B0001EE7}"/>
              </a:ext>
            </a:extLst>
          </p:cNvPr>
          <p:cNvSpPr>
            <a:spLocks noGrp="1"/>
          </p:cNvSpPr>
          <p:nvPr/>
        </p:nvSpPr>
        <p:spPr>
          <a:xfrm>
            <a:off x="457200" y="4829175"/>
            <a:ext cx="28575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Сухов Н. М.</a:t>
            </a:r>
          </a:p>
        </p:txBody>
      </p:sp>
      <p:sp>
        <p:nvSpPr>
          <p:cNvPr id="9" name="7">
            <a:extLst>
              <a:ext uri="{FF2B5EF4-FFF2-40B4-BE49-F238E27FC236}">
                <a16:creationId xmlns:a16="http://schemas.microsoft.com/office/drawing/2014/main" id="{97D8C368-4EF7-4711-8A13-E846E41159F8}"/>
              </a:ext>
            </a:extLst>
          </p:cNvPr>
          <p:cNvSpPr>
            <a:spLocks noGrp="1"/>
          </p:cNvSpPr>
          <p:nvPr/>
        </p:nvSpPr>
        <p:spPr>
          <a:xfrm>
            <a:off x="8334375" y="4829175"/>
            <a:ext cx="35242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7191AB4-E9A5-47CB-90A2-EC7D0EF52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6811FE9C-8078-49F5-B1A1-6171527ED9CB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Проверка пьезопривода</a:t>
            </a:r>
          </a:p>
        </p:txBody>
      </p:sp>
      <p:sp>
        <p:nvSpPr>
          <p:cNvPr id="3" name="PI P-885.91: 32 мкм при 0–100 В, C = 3,1 мкФ ">
            <a:extLst>
              <a:ext uri="{FF2B5EF4-FFF2-40B4-BE49-F238E27FC236}">
                <a16:creationId xmlns:a16="http://schemas.microsoft.com/office/drawing/2014/main" id="{50D37B3D-224E-404E-A67F-A1BF4BAE04C5}"/>
              </a:ext>
            </a:extLst>
          </p:cNvPr>
          <p:cNvSpPr>
            <a:spLocks noGrp="1"/>
          </p:cNvSpPr>
          <p:nvPr/>
        </p:nvSpPr>
        <p:spPr>
          <a:xfrm>
            <a:off x="457200" y="1038225"/>
            <a:ext cx="8229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7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PI P-885.91: 32 мкм при 0–100 В, C = 3,1 мкФ [4]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97A246-B0A0-48B3-B418-48D0AE58BABE}"/>
              </a:ext>
            </a:extLst>
          </p:cNvPr>
          <p:cNvGraphicFramePr/>
          <p:nvPr/>
        </p:nvGraphicFramePr>
        <p:xfrm>
          <a:off x="457200" y="1733550"/>
          <a:ext cx="4429125" cy="2238375"/>
        </p:xfrm>
        <a:graphic>
          <a:graphicData uri="http://schemas.openxmlformats.org/drawingml/2006/table">
            <a:tbl>
              <a:tblPr firstRow="1"/>
              <a:tblGrid>
                <a:gridCol w="28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Расчёт канала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>
                      <a:solidFill>
                        <a:srgbClr val="D3D3D3"/>
                      </a:solidFill>
                      <a:prstDash val="soli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Значение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>
                      <a:solidFill>
                        <a:srgbClr val="D3D3D3"/>
                      </a:solidFill>
                      <a:prstDash val="soli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0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Жёсткость ветви kₑ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1,00 МН/м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Усилие на 1 В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0,32 Н/В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Амплитуда ΔU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25 В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Диапазон U</a:t>
                      </a:r>
                    </a:p>
                  </a:txBody>
                  <a:tcPr anchor="ctr">
                    <a:lnL w="6668">
                      <a:solidFill>
                        <a:srgbClr val="D3D3D3"/>
                      </a:solidFill>
                      <a:prstDash val="soli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1818"/>
                          </a:solidFill>
                          <a:latin typeface="Calibri"/>
                          <a:ea typeface="Calibri"/>
                          <a:cs typeface="Calibri"/>
                        </a:rPr>
                        <a:t>35–85 В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3D3D3"/>
                      </a:solidFill>
                      <a:prstDash val="solid"/>
                    </a:lnR>
                    <a:lnT w="6668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Упругая передача&#10;kₛ = 1,042 МН/м&#10;kₚ = 25 Н/мк">
            <a:extLst>
              <a:ext uri="{FF2B5EF4-FFF2-40B4-BE49-F238E27FC236}">
                <a16:creationId xmlns:a16="http://schemas.microsoft.com/office/drawing/2014/main" id="{6237DA48-B25B-40FB-B24E-462191E0FFBC}"/>
              </a:ext>
            </a:extLst>
          </p:cNvPr>
          <p:cNvSpPr>
            <a:spLocks noGrp="1"/>
          </p:cNvSpPr>
          <p:nvPr/>
        </p:nvSpPr>
        <p:spPr>
          <a:xfrm>
            <a:off x="5248275" y="1752600"/>
            <a:ext cx="3438525" cy="2238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Упругая передача</a:t>
            </a:r>
          </a:p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kₛ = 1,042 МН/м</a:t>
            </a:r>
          </a:p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kₚ = 25 Н/мкм</a:t>
            </a:r>
          </a:p>
          <a:p>
            <a:endParaRPr sz="1875" b="0">
              <a:solidFill>
                <a:srgbClr val="181818"/>
              </a:solidFill>
              <a:latin typeface="Calibri"/>
              <a:ea typeface="Calibri"/>
              <a:cs typeface="Calibri"/>
            </a:endParaRPr>
          </a:p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Iамп ≈ 49 мА</a:t>
            </a:r>
          </a:p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С запасом: 83 мА [5]</a:t>
            </a:r>
          </a:p>
        </p:txBody>
      </p:sp>
      <p:sp>
        <p:nvSpPr>
          <p:cNvPr id="6" name="Полная динамическая сила ветви ≈ 26,6 Н, пред">
            <a:extLst>
              <a:ext uri="{FF2B5EF4-FFF2-40B4-BE49-F238E27FC236}">
                <a16:creationId xmlns:a16="http://schemas.microsoft.com/office/drawing/2014/main" id="{4D0598D4-0726-49D4-AC3D-DF6560E53C8A}"/>
              </a:ext>
            </a:extLst>
          </p:cNvPr>
          <p:cNvSpPr>
            <a:spLocks noGrp="1"/>
          </p:cNvSpPr>
          <p:nvPr/>
        </p:nvSpPr>
        <p:spPr>
          <a:xfrm>
            <a:off x="457200" y="4257675"/>
            <a:ext cx="8229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425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Полная динамическая сила ветви ≈ 26,6 Н, предварительное сжатие 375 Н.</a:t>
            </a:r>
          </a:p>
          <a:p>
            <a:pPr algn="l">
              <a:defRPr sz="1425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Проверка относится к установившемуся режиму.</a:t>
            </a:r>
          </a:p>
        </p:txBody>
      </p:sp>
      <p:sp>
        <p:nvSpPr>
          <p:cNvPr id="7" name="Сухов Н. М.">
            <a:extLst>
              <a:ext uri="{FF2B5EF4-FFF2-40B4-BE49-F238E27FC236}">
                <a16:creationId xmlns:a16="http://schemas.microsoft.com/office/drawing/2014/main" id="{055BC2BA-16A0-4FA9-858E-5B146EB33F88}"/>
              </a:ext>
            </a:extLst>
          </p:cNvPr>
          <p:cNvSpPr>
            <a:spLocks noGrp="1"/>
          </p:cNvSpPr>
          <p:nvPr/>
        </p:nvSpPr>
        <p:spPr>
          <a:xfrm>
            <a:off x="457200" y="4829175"/>
            <a:ext cx="28575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Сухов Н. М.</a:t>
            </a:r>
          </a:p>
        </p:txBody>
      </p:sp>
      <p:sp>
        <p:nvSpPr>
          <p:cNvPr id="8" name="8">
            <a:extLst>
              <a:ext uri="{FF2B5EF4-FFF2-40B4-BE49-F238E27FC236}">
                <a16:creationId xmlns:a16="http://schemas.microsoft.com/office/drawing/2014/main" id="{4DC0EC87-CA0E-49FD-AE96-634C8409CF14}"/>
              </a:ext>
            </a:extLst>
          </p:cNvPr>
          <p:cNvSpPr>
            <a:spLocks noGrp="1"/>
          </p:cNvSpPr>
          <p:nvPr/>
        </p:nvSpPr>
        <p:spPr>
          <a:xfrm>
            <a:off x="8334375" y="4829175"/>
            <a:ext cx="35242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B223FD6-FE89-492A-B395-C0CBC18E3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44105009-5D47-410C-93BB-10496D0D71B7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Эффективность около резонанса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2DB5A3AC-6986-4BA0-97D3-2496A8C5C5E5}"/>
              </a:ext>
            </a:extLst>
          </p:cNvPr>
          <p:cNvGraphicFramePr/>
          <p:nvPr/>
        </p:nvGraphicFramePr>
        <p:xfrm>
          <a:off x="419100" y="1066800"/>
          <a:ext cx="5829300" cy="3152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−80 %">
            <a:extLst>
              <a:ext uri="{FF2B5EF4-FFF2-40B4-BE49-F238E27FC236}">
                <a16:creationId xmlns:a16="http://schemas.microsoft.com/office/drawing/2014/main" id="{FB49D9F3-57D2-479B-B26F-63375D57EC4D}"/>
              </a:ext>
            </a:extLst>
          </p:cNvPr>
          <p:cNvSpPr>
            <a:spLocks noGrp="1"/>
          </p:cNvSpPr>
          <p:nvPr/>
        </p:nvSpPr>
        <p:spPr>
          <a:xfrm>
            <a:off x="6572250" y="1343025"/>
            <a:ext cx="21145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39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9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9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9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9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9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9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9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9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9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pPr>
            <a:r>
              <a:rPr sz="3975" b="1">
                <a:solidFill>
                  <a:srgbClr val="8200FF"/>
                </a:solidFill>
                <a:latin typeface="Calibri"/>
                <a:ea typeface="Calibri"/>
                <a:cs typeface="Calibri"/>
              </a:rPr>
              <a:t>−80 %</a:t>
            </a:r>
          </a:p>
        </p:txBody>
      </p:sp>
      <p:sp>
        <p:nvSpPr>
          <p:cNvPr id="5" name="амплитуды&#10;при 100 Гц&#10;(в 5 раз, ≈ 14 дБ)">
            <a:extLst>
              <a:ext uri="{FF2B5EF4-FFF2-40B4-BE49-F238E27FC236}">
                <a16:creationId xmlns:a16="http://schemas.microsoft.com/office/drawing/2014/main" id="{E834210E-9104-45FA-A55B-C4B3983EFCAE}"/>
              </a:ext>
            </a:extLst>
          </p:cNvPr>
          <p:cNvSpPr>
            <a:spLocks noGrp="1"/>
          </p:cNvSpPr>
          <p:nvPr/>
        </p:nvSpPr>
        <p:spPr>
          <a:xfrm>
            <a:off x="6572250" y="2190750"/>
            <a:ext cx="21145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амплитуды</a:t>
            </a:r>
          </a:p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при 100 Гц</a:t>
            </a:r>
          </a:p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(в 5 раз, ≈ 14 дБ)</a:t>
            </a:r>
          </a:p>
        </p:txBody>
      </p:sp>
      <p:sp>
        <p:nvSpPr>
          <p:cNvPr id="6" name="0,064 Вт&#10;отводимой механической&#10;мощности">
            <a:extLst>
              <a:ext uri="{FF2B5EF4-FFF2-40B4-BE49-F238E27FC236}">
                <a16:creationId xmlns:a16="http://schemas.microsoft.com/office/drawing/2014/main" id="{C2366606-0701-4906-9300-24B036D66210}"/>
              </a:ext>
            </a:extLst>
          </p:cNvPr>
          <p:cNvSpPr>
            <a:spLocks noGrp="1"/>
          </p:cNvSpPr>
          <p:nvPr/>
        </p:nvSpPr>
        <p:spPr>
          <a:xfrm>
            <a:off x="6572250" y="3486150"/>
            <a:ext cx="211455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6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0,064 Вт</a:t>
            </a:r>
          </a:p>
          <a:p>
            <a:pPr algn="l">
              <a:defRPr sz="16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отводимой механической</a:t>
            </a:r>
          </a:p>
          <a:p>
            <a:pPr algn="l">
              <a:defRPr sz="165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мощности</a:t>
            </a:r>
          </a:p>
        </p:txBody>
      </p:sp>
      <p:sp>
        <p:nvSpPr>
          <p:cNvPr id="7" name="Подпись рисунка">
            <a:extLst>
              <a:ext uri="{FF2B5EF4-FFF2-40B4-BE49-F238E27FC236}">
                <a16:creationId xmlns:a16="http://schemas.microsoft.com/office/drawing/2014/main" id="{0A0DAD67-56E0-4B76-8D48-3744B4BA3BBF}"/>
              </a:ext>
            </a:extLst>
          </p:cNvPr>
          <p:cNvSpPr>
            <a:spLocks noGrp="1"/>
          </p:cNvSpPr>
          <p:nvPr/>
        </p:nvSpPr>
        <p:spPr>
          <a:xfrm>
            <a:off x="457200" y="4391025"/>
            <a:ext cx="822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35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Рисунок 3 — Расчётная АЧХ при F₀ = 10 Н. Электропотребление здесь не оценено</a:t>
            </a:r>
          </a:p>
        </p:txBody>
      </p:sp>
      <p:sp>
        <p:nvSpPr>
          <p:cNvPr id="8" name="Сухов Н. М.">
            <a:extLst>
              <a:ext uri="{FF2B5EF4-FFF2-40B4-BE49-F238E27FC236}">
                <a16:creationId xmlns:a16="http://schemas.microsoft.com/office/drawing/2014/main" id="{47843C02-F3D4-44DA-8DBD-D6E9D9770673}"/>
              </a:ext>
            </a:extLst>
          </p:cNvPr>
          <p:cNvSpPr>
            <a:spLocks noGrp="1"/>
          </p:cNvSpPr>
          <p:nvPr/>
        </p:nvSpPr>
        <p:spPr>
          <a:xfrm>
            <a:off x="457200" y="4829175"/>
            <a:ext cx="28575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Сухов Н. М.</a:t>
            </a:r>
          </a:p>
        </p:txBody>
      </p:sp>
      <p:sp>
        <p:nvSpPr>
          <p:cNvPr id="9" name="9">
            <a:extLst>
              <a:ext uri="{FF2B5EF4-FFF2-40B4-BE49-F238E27FC236}">
                <a16:creationId xmlns:a16="http://schemas.microsoft.com/office/drawing/2014/main" id="{80B62FBA-2E0A-4C25-AF20-B04E124BCCAD}"/>
              </a:ext>
            </a:extLst>
          </p:cNvPr>
          <p:cNvSpPr>
            <a:spLocks noGrp="1"/>
          </p:cNvSpPr>
          <p:nvPr/>
        </p:nvSpPr>
        <p:spPr>
          <a:xfrm>
            <a:off x="8334375" y="4829175"/>
            <a:ext cx="35242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BA08755-4DB9-4F26-BCF7-BFB167297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592F4662-33E3-4763-A6A0-D54174E44E6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Ограничения и перспективы</a:t>
            </a:r>
          </a:p>
        </p:txBody>
      </p:sp>
      <p:sp>
        <p:nvSpPr>
          <p:cNvPr id="3" name="Ограничения">
            <a:extLst>
              <a:ext uri="{FF2B5EF4-FFF2-40B4-BE49-F238E27FC236}">
                <a16:creationId xmlns:a16="http://schemas.microsoft.com/office/drawing/2014/main" id="{C277FD9F-B30D-4AB8-AC4F-57F63A94D6D8}"/>
              </a:ext>
            </a:extLst>
          </p:cNvPr>
          <p:cNvSpPr>
            <a:spLocks noGrp="1"/>
          </p:cNvSpPr>
          <p:nvPr/>
        </p:nvSpPr>
        <p:spPr>
          <a:xfrm>
            <a:off x="457200" y="1095375"/>
            <a:ext cx="3810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8200FF"/>
                </a:solidFill>
                <a:latin typeface="Calibri"/>
                <a:ea typeface="Calibri"/>
                <a:cs typeface="Calibri"/>
              </a:rPr>
              <a:t>Ограничения</a:t>
            </a:r>
          </a:p>
        </p:txBody>
      </p:sp>
      <p:sp>
        <p:nvSpPr>
          <p:cNvPr id="4" name="Где применять">
            <a:extLst>
              <a:ext uri="{FF2B5EF4-FFF2-40B4-BE49-F238E27FC236}">
                <a16:creationId xmlns:a16="http://schemas.microsoft.com/office/drawing/2014/main" id="{AE02B759-4D39-419C-BB01-F23DF81A783A}"/>
              </a:ext>
            </a:extLst>
          </p:cNvPr>
          <p:cNvSpPr>
            <a:spLocks noGrp="1"/>
          </p:cNvSpPr>
          <p:nvPr/>
        </p:nvSpPr>
        <p:spPr>
          <a:xfrm>
            <a:off x="4876800" y="1095375"/>
            <a:ext cx="3810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17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8200FF"/>
                </a:solidFill>
                <a:latin typeface="Calibri"/>
                <a:ea typeface="Calibri"/>
                <a:cs typeface="Calibri"/>
              </a:rPr>
              <a:t>Где применять</a:t>
            </a:r>
          </a:p>
        </p:txBody>
      </p:sp>
      <p:sp>
        <p:nvSpPr>
          <p:cNvPr id="5" name="NiTi: охлаждение, гистерезис&#10;и ресурс циклов&#10;">
            <a:extLst>
              <a:ext uri="{FF2B5EF4-FFF2-40B4-BE49-F238E27FC236}">
                <a16:creationId xmlns:a16="http://schemas.microsoft.com/office/drawing/2014/main" id="{73F564F5-2822-4865-A5A1-7FC8AB43BE98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4000500" cy="2314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NiTi: охлаждение, гистерезис</a:t>
            </a:r>
          </a:p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и ресурс циклов</a:t>
            </a:r>
          </a:p>
          <a:p>
            <a:endParaRPr sz="1875" b="0">
              <a:solidFill>
                <a:srgbClr val="181818"/>
              </a:solidFill>
              <a:latin typeface="Calibri"/>
              <a:ea typeface="Calibri"/>
              <a:cs typeface="Calibri"/>
            </a:endParaRPr>
          </a:p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PZT: малый ход, ток усилителя</a:t>
            </a:r>
          </a:p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и предварительное сжатие</a:t>
            </a:r>
          </a:p>
          <a:p>
            <a:endParaRPr sz="1875" b="0">
              <a:solidFill>
                <a:srgbClr val="181818"/>
              </a:solidFill>
              <a:latin typeface="Calibri"/>
              <a:ea typeface="Calibri"/>
              <a:cs typeface="Calibri"/>
            </a:endParaRPr>
          </a:p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Контур: задержки, насыщение</a:t>
            </a:r>
          </a:p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и высшие моды</a:t>
            </a:r>
          </a:p>
        </p:txBody>
      </p:sp>
      <p:sp>
        <p:nvSpPr>
          <p:cNvPr id="6" name="Муфты и зажимы&#10;с редкими рабочими циклами&#10;&#10;Оп">
            <a:extLst>
              <a:ext uri="{FF2B5EF4-FFF2-40B4-BE49-F238E27FC236}">
                <a16:creationId xmlns:a16="http://schemas.microsoft.com/office/drawing/2014/main" id="{7E1C0AA3-93AB-47A4-9B34-C9A3CD059225}"/>
              </a:ext>
            </a:extLst>
          </p:cNvPr>
          <p:cNvSpPr>
            <a:spLocks noGrp="1"/>
          </p:cNvSpPr>
          <p:nvPr/>
        </p:nvSpPr>
        <p:spPr>
          <a:xfrm>
            <a:off x="4876800" y="1714500"/>
            <a:ext cx="3810000" cy="2314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Муфты и зажимы</a:t>
            </a:r>
          </a:p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с редкими рабочими циклами</a:t>
            </a:r>
          </a:p>
          <a:p>
            <a:endParaRPr sz="1875" b="0">
              <a:solidFill>
                <a:srgbClr val="181818"/>
              </a:solidFill>
              <a:latin typeface="Calibri"/>
              <a:ea typeface="Calibri"/>
              <a:cs typeface="Calibri"/>
            </a:endParaRPr>
          </a:p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Опоры шпинделей</a:t>
            </a:r>
          </a:p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и точные механизмы</a:t>
            </a:r>
          </a:p>
          <a:p>
            <a:endParaRPr sz="1875" b="0">
              <a:solidFill>
                <a:srgbClr val="181818"/>
              </a:solidFill>
              <a:latin typeface="Calibri"/>
              <a:ea typeface="Calibri"/>
              <a:cs typeface="Calibri"/>
            </a:endParaRPr>
          </a:p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Совмещение активного канала</a:t>
            </a:r>
          </a:p>
          <a:p>
            <a:pPr algn="l">
              <a:defRPr sz="18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с пассивной несущей опорой</a:t>
            </a:r>
          </a:p>
        </p:txBody>
      </p:sp>
      <p:sp>
        <p:nvSpPr>
          <p:cNvPr id="7" name="Пуск проверяют отдельно: управление включают ">
            <a:extLst>
              <a:ext uri="{FF2B5EF4-FFF2-40B4-BE49-F238E27FC236}">
                <a16:creationId xmlns:a16="http://schemas.microsoft.com/office/drawing/2014/main" id="{E23E0CB8-1A3A-4E60-A55E-45BB4D2612BA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82296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Пуск проверяют отдельно: управление включают до прохождения резонанса.</a:t>
            </a:r>
          </a:p>
          <a:p>
            <a:pPr algn="l">
              <a:defRPr sz="1500" b="0">
                <a:solidFill>
                  <a:srgbClr val="5A5A5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Доступного напряжения может не хватить при уже развитой вибрации.</a:t>
            </a:r>
          </a:p>
        </p:txBody>
      </p:sp>
      <p:sp>
        <p:nvSpPr>
          <p:cNvPr id="8" name="Сухов Н. М.">
            <a:extLst>
              <a:ext uri="{FF2B5EF4-FFF2-40B4-BE49-F238E27FC236}">
                <a16:creationId xmlns:a16="http://schemas.microsoft.com/office/drawing/2014/main" id="{8437449E-5452-40FC-9058-92EDB5213D65}"/>
              </a:ext>
            </a:extLst>
          </p:cNvPr>
          <p:cNvSpPr>
            <a:spLocks noGrp="1"/>
          </p:cNvSpPr>
          <p:nvPr/>
        </p:nvSpPr>
        <p:spPr>
          <a:xfrm>
            <a:off x="457200" y="4829175"/>
            <a:ext cx="28575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Сухов Н. М.</a:t>
            </a:r>
          </a:p>
        </p:txBody>
      </p:sp>
      <p:sp>
        <p:nvSpPr>
          <p:cNvPr id="9" name="10">
            <a:extLst>
              <a:ext uri="{FF2B5EF4-FFF2-40B4-BE49-F238E27FC236}">
                <a16:creationId xmlns:a16="http://schemas.microsoft.com/office/drawing/2014/main" id="{C6805826-12DB-4A33-8CBE-041BEB66AFB1}"/>
              </a:ext>
            </a:extLst>
          </p:cNvPr>
          <p:cNvSpPr>
            <a:spLocks noGrp="1"/>
          </p:cNvSpPr>
          <p:nvPr/>
        </p:nvSpPr>
        <p:spPr>
          <a:xfrm>
            <a:off x="8334375" y="4829175"/>
            <a:ext cx="35242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363EB3A-F0EE-4016-B6B0-A7E65A527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92024571-04A6-4863-8228-E95E24090325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Выводы</a:t>
            </a:r>
          </a:p>
        </p:txBody>
      </p:sp>
      <p:sp>
        <p:nvSpPr>
          <p:cNvPr id="3" name="NiTi регулирует медленные температурные проце">
            <a:extLst>
              <a:ext uri="{FF2B5EF4-FFF2-40B4-BE49-F238E27FC236}">
                <a16:creationId xmlns:a16="http://schemas.microsoft.com/office/drawing/2014/main" id="{A4BBD85F-995E-4EA3-8834-0A84008E1274}"/>
              </a:ext>
            </a:extLst>
          </p:cNvPr>
          <p:cNvSpPr>
            <a:spLocks noGrp="1"/>
          </p:cNvSpPr>
          <p:nvPr/>
        </p:nvSpPr>
        <p:spPr>
          <a:xfrm>
            <a:off x="457200" y="1152525"/>
            <a:ext cx="82296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NiTi регулирует медленные температурные процессы</a:t>
            </a:r>
          </a:p>
        </p:txBody>
      </p:sp>
      <p:sp>
        <p:nvSpPr>
          <p:cNvPr id="4" name="Пьезокерамика управляет вибрацией&#10;в выбранной">
            <a:extLst>
              <a:ext uri="{FF2B5EF4-FFF2-40B4-BE49-F238E27FC236}">
                <a16:creationId xmlns:a16="http://schemas.microsoft.com/office/drawing/2014/main" id="{904C62B5-EE90-4698-AF4A-89B78210D160}"/>
              </a:ext>
            </a:extLst>
          </p:cNvPr>
          <p:cNvSpPr>
            <a:spLocks noGrp="1"/>
          </p:cNvSpPr>
          <p:nvPr/>
        </p:nvSpPr>
        <p:spPr>
          <a:xfrm>
            <a:off x="457200" y="2028825"/>
            <a:ext cx="8229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Пьезокерамика управляет вибрацией</a:t>
            </a:r>
          </a:p>
          <a:p>
            <a:pPr algn="l">
              <a:defRPr sz="2325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в выбранной полосе частот</a:t>
            </a:r>
          </a:p>
        </p:txBody>
      </p:sp>
      <p:sp>
        <p:nvSpPr>
          <p:cNvPr id="5" name="В расчёте при 100 Гц амплитуда составила&#10;25,3">
            <a:extLst>
              <a:ext uri="{FF2B5EF4-FFF2-40B4-BE49-F238E27FC236}">
                <a16:creationId xmlns:a16="http://schemas.microsoft.com/office/drawing/2014/main" id="{28D50A3D-4A4C-4357-805B-26E565BF83D3}"/>
              </a:ext>
            </a:extLst>
          </p:cNvPr>
          <p:cNvSpPr>
            <a:spLocks noGrp="1"/>
          </p:cNvSpPr>
          <p:nvPr/>
        </p:nvSpPr>
        <p:spPr>
          <a:xfrm>
            <a:off x="457200" y="3057525"/>
            <a:ext cx="8229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23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3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3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3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3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3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3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3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3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3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8200FF"/>
                </a:solidFill>
                <a:latin typeface="Calibri"/>
                <a:ea typeface="Calibri"/>
                <a:cs typeface="Calibri"/>
              </a:rPr>
              <a:t>В расчёте при 100 Гц амплитуда составила</a:t>
            </a:r>
          </a:p>
          <a:p>
            <a:pPr algn="l">
              <a:defRPr sz="2325" b="1">
                <a:solidFill>
                  <a:srgbClr val="8200FF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8200FF"/>
                </a:solidFill>
                <a:latin typeface="Calibri"/>
                <a:ea typeface="Calibri"/>
                <a:cs typeface="Calibri"/>
              </a:rPr>
              <a:t>25,3 мкм вместо 126,7 мкм</a:t>
            </a:r>
          </a:p>
        </p:txBody>
      </p:sp>
      <p:sp>
        <p:nvSpPr>
          <p:cNvPr id="6" name="Стендовые испытания должны подтвердить устойч">
            <a:extLst>
              <a:ext uri="{FF2B5EF4-FFF2-40B4-BE49-F238E27FC236}">
                <a16:creationId xmlns:a16="http://schemas.microsoft.com/office/drawing/2014/main" id="{6E7CB008-3C1C-4E76-8BE9-4B88ACEC95A4}"/>
              </a:ext>
            </a:extLst>
          </p:cNvPr>
          <p:cNvSpPr>
            <a:spLocks noGrp="1"/>
          </p:cNvSpPr>
          <p:nvPr/>
        </p:nvSpPr>
        <p:spPr>
          <a:xfrm>
            <a:off x="457200" y="4210050"/>
            <a:ext cx="82296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Стендовые испытания должны подтвердить устойчивость,</a:t>
            </a:r>
          </a:p>
          <a:p>
            <a:pPr algn="l">
              <a:defRPr sz="1800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ресурс и пользу для конкретного узла</a:t>
            </a:r>
          </a:p>
        </p:txBody>
      </p:sp>
      <p:sp>
        <p:nvSpPr>
          <p:cNvPr id="7" name="Сухов Н. М.">
            <a:extLst>
              <a:ext uri="{FF2B5EF4-FFF2-40B4-BE49-F238E27FC236}">
                <a16:creationId xmlns:a16="http://schemas.microsoft.com/office/drawing/2014/main" id="{69A779E8-52C7-4FAB-9254-D97C91167AD7}"/>
              </a:ext>
            </a:extLst>
          </p:cNvPr>
          <p:cNvSpPr>
            <a:spLocks noGrp="1"/>
          </p:cNvSpPr>
          <p:nvPr/>
        </p:nvSpPr>
        <p:spPr>
          <a:xfrm>
            <a:off x="457200" y="4829175"/>
            <a:ext cx="28575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Сухов Н. М.</a:t>
            </a:r>
          </a:p>
        </p:txBody>
      </p:sp>
      <p:sp>
        <p:nvSpPr>
          <p:cNvPr id="8" name="11">
            <a:extLst>
              <a:ext uri="{FF2B5EF4-FFF2-40B4-BE49-F238E27FC236}">
                <a16:creationId xmlns:a16="http://schemas.microsoft.com/office/drawing/2014/main" id="{00D79FD6-B7D1-4B99-9C55-AAA363F55BBB}"/>
              </a:ext>
            </a:extLst>
          </p:cNvPr>
          <p:cNvSpPr>
            <a:spLocks noGrp="1"/>
          </p:cNvSpPr>
          <p:nvPr/>
        </p:nvSpPr>
        <p:spPr>
          <a:xfrm>
            <a:off x="8334375" y="4829175"/>
            <a:ext cx="35242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FE0E40-49F6-46B5-92E1-C44B35D51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ED3FE023-3096-4316-9564-F7EC49DB6A0E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700" b="1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Источники</a:t>
            </a:r>
          </a:p>
        </p:txBody>
      </p:sp>
      <p:sp>
        <p:nvSpPr>
          <p:cNvPr id="3" name="1. A review of shape memory alloy research, a">
            <a:extLst>
              <a:ext uri="{FF2B5EF4-FFF2-40B4-BE49-F238E27FC236}">
                <a16:creationId xmlns:a16="http://schemas.microsoft.com/office/drawing/2014/main" id="{66219DD9-522C-4C56-A48A-48A44D48286E}"/>
              </a:ext>
            </a:extLst>
          </p:cNvPr>
          <p:cNvSpPr>
            <a:spLocks noGrp="1"/>
          </p:cNvSpPr>
          <p:nvPr/>
        </p:nvSpPr>
        <p:spPr>
          <a:xfrm>
            <a:off x="457200" y="1076325"/>
            <a:ext cx="8229600" cy="30144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1. A review of shape memory alloy research, applications and opportunities / J. M. Jani, M. Leary, A. Subic, M. A. Gibson // Materials &amp; Design. — 2014. — Vol. 56. — P. 1078–1113. — DOI 10.1016/j.matdes.2013.11.084. — </a:t>
            </a:r>
            <a:r>
              <a:rPr sz="1050" b="0" dirty="0" err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Текст</a:t>
            </a:r>
            <a:r>
              <a:rPr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 : </a:t>
            </a:r>
            <a:r>
              <a:rPr sz="1050" b="0" dirty="0" err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электронный</a:t>
            </a:r>
            <a:r>
              <a:rPr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.</a:t>
            </a:r>
            <a:endParaRPr lang="ru-RU" sz="1050" b="0" dirty="0">
              <a:solidFill>
                <a:srgbClr val="181818"/>
              </a:solidFill>
              <a:latin typeface="Calibri"/>
              <a:ea typeface="Calibri"/>
              <a:cs typeface="Calibri"/>
            </a:endParaRPr>
          </a:p>
          <a:p>
            <a: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endParaRPr lang="ru-RU" sz="1050" dirty="0"/>
          </a:p>
          <a:p>
            <a:pPr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lang="en-US" sz="1050" dirty="0"/>
              <a:t>2. A Novel Intelligent Fan Clutch for Large Hybrid Vehicles / R. Shu, H. Gong, G. Hu, J. Huang // Energies. — 2022. — Vol. 15, no. 12. — Art. 4308. — DOI 10.3390/en15124308. — </a:t>
            </a:r>
            <a:r>
              <a:rPr lang="ru-RU" sz="1050" dirty="0"/>
              <a:t>Текст : электронный.</a:t>
            </a:r>
          </a:p>
          <a:p>
            <a:pPr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endParaRPr lang="ru-RU" sz="1050" dirty="0"/>
          </a:p>
          <a:p>
            <a:pPr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lang="en-US" sz="1050" dirty="0"/>
              <a:t>3. Real-Time Performance of Mechatronic PZT Module Using Active Vibration Feedback Control / F. </a:t>
            </a:r>
            <a:r>
              <a:rPr lang="en-US" sz="1050" dirty="0" err="1"/>
              <a:t>Aggogeri</a:t>
            </a:r>
            <a:r>
              <a:rPr lang="en-US" sz="1050" dirty="0"/>
              <a:t>, A. </a:t>
            </a:r>
            <a:r>
              <a:rPr lang="en-US" sz="1050" dirty="0" err="1"/>
              <a:t>Borboni</a:t>
            </a:r>
            <a:r>
              <a:rPr lang="en-US" sz="1050" dirty="0"/>
              <a:t>, A. Merlo [et al.] // Sensors. — 2016. — Vol. 16, no. 10. — Art. 1577. — DOI 10.3390/s16101577. — </a:t>
            </a:r>
            <a:r>
              <a:rPr lang="ru-RU" sz="1050" dirty="0"/>
              <a:t>Текст : электронный.</a:t>
            </a:r>
          </a:p>
          <a:p>
            <a:pPr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endParaRPr lang="ru-RU" sz="1050" dirty="0"/>
          </a:p>
          <a:p>
            <a: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lang="en-US"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4. P-882–P-888 PICMA® Stack Multilayer Piezo Actuators // </a:t>
            </a:r>
            <a:r>
              <a:rPr lang="en-US" sz="1050" b="0" dirty="0" err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Physik</a:t>
            </a:r>
            <a:r>
              <a:rPr lang="en-US"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b="0" dirty="0" err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Instrumente</a:t>
            </a:r>
            <a:r>
              <a:rPr lang="en-US"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 (PI) : [</a:t>
            </a:r>
            <a:r>
              <a:rPr lang="ru-RU"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сайт]. — </a:t>
            </a:r>
            <a:r>
              <a:rPr lang="en-US"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URL: https://www.physikinstrumente.com/en/products/piezoelectric-transducers-actuators/p-882-p-888-picma-stack-multilayer-piezo-actuators-100810 (</a:t>
            </a:r>
            <a:r>
              <a:rPr lang="ru-RU"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дата обращения: 18.10.2026). — Текст : электронный.</a:t>
            </a:r>
          </a:p>
          <a:p>
            <a: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endParaRPr lang="ru-RU" sz="1050" b="0" dirty="0">
              <a:solidFill>
                <a:srgbClr val="181818"/>
              </a:solidFill>
              <a:latin typeface="Calibri"/>
              <a:ea typeface="Calibri"/>
              <a:cs typeface="Calibri"/>
            </a:endParaRPr>
          </a:p>
          <a:p>
            <a: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lang="en-US"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5. Piezoelectric Actuators : Components, Technologies, Operation // </a:t>
            </a:r>
            <a:r>
              <a:rPr lang="en-US" sz="1050" b="0" dirty="0" err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Physik</a:t>
            </a:r>
            <a:r>
              <a:rPr lang="en-US"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b="0" dirty="0" err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Instrumente</a:t>
            </a:r>
            <a:r>
              <a:rPr lang="en-US"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 (PI). — URL: https://www.physikinstrumente.com/fileadmin/user_upload/pi_ceramic/files/catalog_CAT/PI_CAT128E_R3_Piezoelectric_Actuators.pdf (</a:t>
            </a:r>
            <a:r>
              <a:rPr lang="ru-RU"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дата обращения: 18.10.2026). — Текст : электронный.</a:t>
            </a:r>
          </a:p>
          <a:p>
            <a: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endParaRPr lang="ru-RU" sz="1050" dirty="0"/>
          </a:p>
          <a:p>
            <a: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lang="en-US"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6. Tzou, H. S. Smart Materials, Precision Sensors/Actuators, Smart Structures, and </a:t>
            </a:r>
            <a:r>
              <a:rPr lang="en-US" sz="1050" b="0" dirty="0" err="1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Structronic</a:t>
            </a:r>
            <a:r>
              <a:rPr lang="en-US"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 Systems / H. S. Tzou, H.-J. Lee, S. M. Arnold // Mechanics of Advanced Materials and Structures. — 2004. — Vol. 11, no. 4–5. — P. 367–393. — DOI 10.1080/15376490490451552. — </a:t>
            </a:r>
            <a:r>
              <a:rPr lang="ru-RU"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Текст : электронный.</a:t>
            </a:r>
          </a:p>
          <a:p>
            <a: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endParaRPr lang="ru-RU" sz="1050" b="0" dirty="0">
              <a:solidFill>
                <a:srgbClr val="181818"/>
              </a:solidFill>
              <a:latin typeface="Calibri"/>
              <a:ea typeface="Calibri"/>
              <a:cs typeface="Calibri"/>
            </a:endParaRPr>
          </a:p>
          <a:p>
            <a: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r>
              <a:rPr lang="en-US"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7. High-Speed Electrically Actuated Elastomers with Strain Greater Than 100% / R. Pelrine, R. Kornbluh, Q. Pei, J. Joseph // Science. — 2000. — Vol. 287, no. 5454. — P. 836–839. — DOI 10.1126/science.287.5454.836. — </a:t>
            </a:r>
            <a:r>
              <a:rPr lang="ru-RU" sz="1050" b="0" dirty="0">
                <a:solidFill>
                  <a:srgbClr val="181818"/>
                </a:solidFill>
                <a:latin typeface="Calibri"/>
                <a:ea typeface="Calibri"/>
                <a:cs typeface="Calibri"/>
              </a:rPr>
              <a:t>Текст : электронный.</a:t>
            </a:r>
          </a:p>
          <a:p>
            <a:pPr algn="l">
              <a:defRPr sz="1575" b="0">
                <a:solidFill>
                  <a:srgbClr val="181818"/>
                </a:solidFill>
                <a:latin typeface="Calibri"/>
                <a:ea typeface="Calibri"/>
                <a:cs typeface="Calibri"/>
              </a:defRPr>
            </a:pPr>
            <a:endParaRPr sz="1050" b="0" dirty="0">
              <a:solidFill>
                <a:srgbClr val="18181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Сухов Н. М.">
            <a:extLst>
              <a:ext uri="{FF2B5EF4-FFF2-40B4-BE49-F238E27FC236}">
                <a16:creationId xmlns:a16="http://schemas.microsoft.com/office/drawing/2014/main" id="{450FE52E-295D-4F3A-87F2-A387E96B4407}"/>
              </a:ext>
            </a:extLst>
          </p:cNvPr>
          <p:cNvSpPr>
            <a:spLocks noGrp="1"/>
          </p:cNvSpPr>
          <p:nvPr/>
        </p:nvSpPr>
        <p:spPr>
          <a:xfrm>
            <a:off x="457200" y="4829175"/>
            <a:ext cx="28575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Сухов Н. М.</a:t>
            </a:r>
          </a:p>
        </p:txBody>
      </p:sp>
      <p:sp>
        <p:nvSpPr>
          <p:cNvPr id="7" name="12">
            <a:extLst>
              <a:ext uri="{FF2B5EF4-FFF2-40B4-BE49-F238E27FC236}">
                <a16:creationId xmlns:a16="http://schemas.microsoft.com/office/drawing/2014/main" id="{CF8DBEE0-D291-419D-B508-2736ABC49FE6}"/>
              </a:ext>
            </a:extLst>
          </p:cNvPr>
          <p:cNvSpPr>
            <a:spLocks noGrp="1"/>
          </p:cNvSpPr>
          <p:nvPr/>
        </p:nvSpPr>
        <p:spPr>
          <a:xfrm>
            <a:off x="8334375" y="4829175"/>
            <a:ext cx="35242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200" b="0">
                <a:solidFill>
                  <a:srgbClr val="6A6A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A6A6A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E4585-6E9E-401F-AE8A-6499066A6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 lIns="0" tIns="0" rIns="0" bIns="0">
            <a:noAutofit/>
          </a:bodyPr>
          <a:lstStyle>
            <a:defPPr algn="ctr">
              <a:defRPr sz="4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4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4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4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4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4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4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4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4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4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4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Спасибо</a:t>
            </a:r>
            <a:b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за внимание!</a:t>
            </a:r>
            <a:endParaRPr sz="4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>
            <a:spLocks noGrp="1"/>
          </p:cNvSpPr>
          <p:nvPr/>
        </p:nvSpPr>
        <p:spPr>
          <a:xfrm>
            <a:off x="7465947" y="4488743"/>
            <a:ext cx="1244917" cy="3543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 algn="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7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Сухов Н. М.</a:t>
            </a:r>
          </a:p>
        </p:txBody>
      </p:sp>
      <p:sp>
        <p:nvSpPr>
          <p:cNvPr id="4" name="15">
            <a:extLst>
              <a:ext uri="{FF2B5EF4-FFF2-40B4-BE49-F238E27FC236}">
                <a16:creationId xmlns:a16="http://schemas.microsoft.com/office/drawing/2014/main" id="{9A2873B8-570C-44A8-8799-CE9043295049}"/>
              </a:ext>
            </a:extLst>
          </p:cNvPr>
          <p:cNvSpPr>
            <a:spLocks noGrp="1"/>
          </p:cNvSpPr>
          <p:nvPr/>
        </p:nvSpPr>
        <p:spPr>
          <a:xfrm>
            <a:off x="8334375" y="4829175"/>
            <a:ext cx="35242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Calibri"/>
        <a:font script="Hang" typeface="Calibri"/>
        <a:font script="Hans" typeface="Calibri"/>
        <a:font script="Hant" typeface="Calibri"/>
        <a:font script="Arab" typeface="Calibri"/>
        <a:font script="Hebr" typeface="Calibri"/>
        <a:font script="Thai" typeface="Calibri"/>
        <a:font script="Ethi" typeface="Calibri"/>
        <a:font script="Beng" typeface="Calibri"/>
        <a:font script="Gujr" typeface="Calibri"/>
        <a:font script="Khmr" typeface="Calibri"/>
        <a:font script="Knda" typeface="Calibri"/>
        <a:font script="Guru" typeface="Calibri"/>
        <a:font script="Cans" typeface="Calibri"/>
        <a:font script="Cher" typeface="Calibri"/>
        <a:font script="Yiii" typeface="Calibri"/>
        <a:font script="Tibt" typeface="Calibri"/>
        <a:font script="Thaa" typeface="Calibri"/>
        <a:font script="Deva" typeface="Calibri"/>
        <a:font script="Telu" typeface="Calibri"/>
        <a:font script="Taml" typeface="Calibri"/>
        <a:font script="Syrc" typeface="Calibri"/>
        <a:font script="Orya" typeface="Calibri"/>
        <a:font script="Mlym" typeface="Calibri"/>
        <a:font script="Laoo" typeface="Calibri"/>
        <a:font script="Sinh" typeface="Calibri"/>
        <a:font script="Mong" typeface="Calibri"/>
        <a:font script="Viet" typeface="Calibri"/>
        <a:font script="Uigh" typeface="Calibri"/>
        <a:font script="Geor" typeface="Calibri"/>
      </a:majorFont>
      <a:minorFont>
        <a:latin typeface="Calibri"/>
        <a:ea typeface=""/>
        <a:cs typeface=""/>
        <a:font script="Jpan" typeface="Calibri"/>
        <a:font script="Hang" typeface="Calibri"/>
        <a:font script="Hans" typeface="Calibri"/>
        <a:font script="Hant" typeface="Calibri"/>
        <a:font script="Arab" typeface="Calibri"/>
        <a:font script="Hebr" typeface="Calibri"/>
        <a:font script="Thai" typeface="Calibri"/>
        <a:font script="Ethi" typeface="Calibri"/>
        <a:font script="Beng" typeface="Calibri"/>
        <a:font script="Gujr" typeface="Calibri"/>
        <a:font script="Khmr" typeface="Calibri"/>
        <a:font script="Knda" typeface="Calibri"/>
        <a:font script="Guru" typeface="Calibri"/>
        <a:font script="Cans" typeface="Calibri"/>
        <a:font script="Cher" typeface="Calibri"/>
        <a:font script="Yiii" typeface="Calibri"/>
        <a:font script="Tibt" typeface="Calibri"/>
        <a:font script="Thaa" typeface="Calibri"/>
        <a:font script="Deva" typeface="Calibri"/>
        <a:font script="Telu" typeface="Calibri"/>
        <a:font script="Taml" typeface="Calibri"/>
        <a:font script="Syrc" typeface="Calibri"/>
        <a:font script="Orya" typeface="Calibri"/>
        <a:font script="Mlym" typeface="Calibri"/>
        <a:font script="Laoo" typeface="Calibri"/>
        <a:font script="Sinh" typeface="Calibri"/>
        <a:font script="Mong" typeface="Calibri"/>
        <a:font script="Viet" typeface="Calibri"/>
        <a:font script="Uigh" typeface="Calibri"/>
        <a:font script="Geor" typeface="Calibri"/>
      </a:minorFont>
    </a:fontScheme>
    <a:fmtScheme name="Другая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Calibri"/>
        <a:font script="Hang" typeface="Calibri"/>
        <a:font script="Hans" typeface="Calibri"/>
        <a:font script="Hant" typeface="Calibri"/>
        <a:font script="Arab" typeface="Calibri"/>
        <a:font script="Hebr" typeface="Calibri"/>
        <a:font script="Thai" typeface="Calibri"/>
        <a:font script="Ethi" typeface="Calibri"/>
        <a:font script="Beng" typeface="Calibri"/>
        <a:font script="Gujr" typeface="Calibri"/>
        <a:font script="Khmr" typeface="Calibri"/>
        <a:font script="Knda" typeface="Calibri"/>
        <a:font script="Guru" typeface="Calibri"/>
        <a:font script="Cans" typeface="Calibri"/>
        <a:font script="Cher" typeface="Calibri"/>
        <a:font script="Yiii" typeface="Calibri"/>
        <a:font script="Tibt" typeface="Calibri"/>
        <a:font script="Thaa" typeface="Calibri"/>
        <a:font script="Deva" typeface="Calibri"/>
        <a:font script="Telu" typeface="Calibri"/>
        <a:font script="Taml" typeface="Calibri"/>
        <a:font script="Syrc" typeface="Calibri"/>
        <a:font script="Orya" typeface="Calibri"/>
        <a:font script="Mlym" typeface="Calibri"/>
        <a:font script="Laoo" typeface="Calibri"/>
        <a:font script="Sinh" typeface="Calibri"/>
        <a:font script="Mong" typeface="Calibri"/>
        <a:font script="Viet" typeface="Calibri"/>
        <a:font script="Uigh" typeface="Calibri"/>
        <a:font script="Geor" typeface="Calibri"/>
      </a:majorFont>
      <a:minorFont>
        <a:latin typeface="Calibri"/>
        <a:ea typeface=""/>
        <a:cs typeface=""/>
        <a:font script="Jpan" typeface="Calibri"/>
        <a:font script="Hang" typeface="Calibri"/>
        <a:font script="Hans" typeface="Calibri"/>
        <a:font script="Hant" typeface="Calibri"/>
        <a:font script="Arab" typeface="Calibri"/>
        <a:font script="Hebr" typeface="Calibri"/>
        <a:font script="Thai" typeface="Calibri"/>
        <a:font script="Ethi" typeface="Calibri"/>
        <a:font script="Beng" typeface="Calibri"/>
        <a:font script="Gujr" typeface="Calibri"/>
        <a:font script="Khmr" typeface="Calibri"/>
        <a:font script="Knda" typeface="Calibri"/>
        <a:font script="Guru" typeface="Calibri"/>
        <a:font script="Cans" typeface="Calibri"/>
        <a:font script="Cher" typeface="Calibri"/>
        <a:font script="Yiii" typeface="Calibri"/>
        <a:font script="Tibt" typeface="Calibri"/>
        <a:font script="Thaa" typeface="Calibri"/>
        <a:font script="Deva" typeface="Calibri"/>
        <a:font script="Telu" typeface="Calibri"/>
        <a:font script="Taml" typeface="Calibri"/>
        <a:font script="Syrc" typeface="Calibri"/>
        <a:font script="Orya" typeface="Calibri"/>
        <a:font script="Mlym" typeface="Calibri"/>
        <a:font script="Laoo" typeface="Calibri"/>
        <a:font script="Sinh" typeface="Calibri"/>
        <a:font script="Mong" typeface="Calibri"/>
        <a:font script="Viet" typeface="Calibri"/>
        <a:font script="Uigh" typeface="Calibri"/>
        <a:font script="Geor" typeface="Calibri"/>
      </a:minorFont>
    </a:fontScheme>
    <a:fmtScheme name="Другая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1158</Words>
  <Application>Microsoft Office PowerPoint</Application>
  <DocSecurity>0</DocSecurity>
  <PresentationFormat>On-screen Show (16:9)</PresentationFormat>
  <Paragraphs>204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Тема1</vt:lpstr>
      <vt:lpstr>Интеллектуальные материалы в машиностроительных узлах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Николай Сухов</cp:lastModifiedBy>
  <cp:revision>7</cp:revision>
  <dcterms:created xsi:type="dcterms:W3CDTF">2026-10-18T18:52:20Z</dcterms:created>
  <dcterms:modified xsi:type="dcterms:W3CDTF">2026-10-18T20:11:48Z</dcterms:modified>
</cp:coreProperties>
</file>